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Bluestock MF</a:t>
            </a:r>
          </a:p>
          <a:p>
            <a:pPr>
              <a:defRPr sz="2200">
                <a:solidFill>
                  <a:srgbClr val="CDE1EB"/>
                </a:solidFill>
                <a:latin typeface="Aptos"/>
              </a:defRPr>
            </a:pPr>
            <a:r>
              <a:t>Mutual Fund Analytics — India</a:t>
            </a:r>
          </a:p>
          <a:p>
            <a:pPr>
              <a:defRPr sz="1500">
                <a:solidFill>
                  <a:srgbClr val="DCE6EB"/>
                </a:solidFill>
              </a:defRPr>
            </a:pPr>
            <a:r>
              <a:t>ETL • Performance Metrics • Risk Signals • Investor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0"/>
                </a:solidFill>
              </a:defRPr>
            </a:pPr>
            <a:r>
              <a:t>Bluestock MF • Mutual Fund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Build a repeatable analytics workflow for Indian equity mutual fund schemes.</a:t>
            </a:r>
          </a:p>
          <a:p>
            <a:pPr>
              <a:spcAft>
                <a:spcPts val="12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Compare funds using returns, alpha, expense ratio, AUM, NAV history, benchmarks, and risk metrics.</a:t>
            </a:r>
          </a:p>
          <a:p>
            <a:pPr>
              <a:spcAft>
                <a:spcPts val="12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Turn raw datasets into clear rankings, visuals, and investor-oriented reporting.</a:t>
            </a:r>
          </a:p>
          <a:p>
            <a:pPr>
              <a:spcAft>
                <a:spcPts val="12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Support scheme screening, SIP suitability analysis, performance monitoring, and portfolio selection.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0"/>
                </a:solidFill>
              </a:defRPr>
            </a:pPr>
            <a:r>
              <a:t>Bluestock MF • Mutual Fund Analytics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770"/>
                </a:solidFill>
                <a:latin typeface="Aptos"/>
              </a:defRPr>
            </a:pPr>
            <a:r>
              <a:t>Structured datasets plus selected live NAV feeds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423160" cy="1828800"/>
          </a:xfrm>
          <a:prstGeom prst="roundRect">
            <a:avLst/>
          </a:prstGeom>
          <a:solidFill>
            <a:srgbClr val="EAF3F8"/>
          </a:solidFill>
          <a:ln>
            <a:solidFill>
              <a:srgbClr val="BE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19072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45B7A"/>
                </a:solidFill>
              </a:defRPr>
            </a:pPr>
            <a:r>
              <a:t>20</a:t>
            </a:r>
          </a:p>
          <a:p>
            <a:pPr algn="ctr">
              <a:defRPr sz="1100">
                <a:solidFill>
                  <a:srgbClr val="263238"/>
                </a:solidFill>
              </a:defRPr>
            </a:pPr>
            <a:r>
              <a:t>Fund-master schemes documented in README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1508760"/>
            <a:ext cx="2423160" cy="1828800"/>
          </a:xfrm>
          <a:prstGeom prst="roundRect">
            <a:avLst/>
          </a:prstGeom>
          <a:solidFill>
            <a:srgbClr val="EAF3F8"/>
          </a:solidFill>
          <a:ln>
            <a:solidFill>
              <a:srgbClr val="BE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6744" y="1719072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45B7A"/>
                </a:solidFill>
              </a:defRPr>
            </a:pPr>
            <a:r>
              <a:t>10,000</a:t>
            </a:r>
          </a:p>
          <a:p>
            <a:pPr algn="ctr">
              <a:defRPr sz="1100">
                <a:solidFill>
                  <a:srgbClr val="263238"/>
                </a:solidFill>
              </a:defRPr>
            </a:pPr>
            <a:r>
              <a:t>NAV-history rows in the README dataset inventory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18504" y="1508760"/>
            <a:ext cx="2423160" cy="1828800"/>
          </a:xfrm>
          <a:prstGeom prst="roundRect">
            <a:avLst/>
          </a:prstGeom>
          <a:solidFill>
            <a:srgbClr val="EAF3F8"/>
          </a:solidFill>
          <a:ln>
            <a:solidFill>
              <a:srgbClr val="BE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3096" y="1719072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45B7A"/>
                </a:solidFill>
              </a:defRPr>
            </a:pPr>
            <a:r>
              <a:t>10</a:t>
            </a:r>
          </a:p>
          <a:p>
            <a:pPr algn="ctr">
              <a:defRPr sz="1100">
                <a:solidFill>
                  <a:srgbClr val="263238"/>
                </a:solidFill>
              </a:defRPr>
            </a:pPr>
            <a:r>
              <a:t>Core structured datasets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34856" y="1508760"/>
            <a:ext cx="2423160" cy="1828800"/>
          </a:xfrm>
          <a:prstGeom prst="roundRect">
            <a:avLst/>
          </a:prstGeom>
          <a:solidFill>
            <a:srgbClr val="EAF3F8"/>
          </a:solidFill>
          <a:ln>
            <a:solidFill>
              <a:srgbClr val="BE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99448" y="1719072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45B7A"/>
                </a:solidFill>
              </a:defRPr>
            </a:pPr>
            <a:r>
              <a:t>6</a:t>
            </a:r>
          </a:p>
          <a:p>
            <a:pPr algn="ctr">
              <a:defRPr sz="1100">
                <a:solidFill>
                  <a:srgbClr val="263238"/>
                </a:solidFill>
              </a:defRPr>
            </a:pPr>
            <a:r>
              <a:t>Schemes with live NAV CSVs documented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Sources include fund metadata, NAV history, holdings, SIP records, returns, benchmarks, AUM, expense ratios, managers, and risk metrics.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Live NAV examples are fetched from mfapi.in and validated using AMFI scheme codes.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51967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0"/>
                </a:solidFill>
              </a:defRPr>
            </a:pPr>
            <a:r>
              <a:t>Bluestock MF • Mutual Fund Analytics Capstone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ETL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770"/>
                </a:solidFill>
                <a:latin typeface="Aptos"/>
              </a:defRPr>
            </a:pPr>
            <a:r>
              <a:t>A repeatable workflow from source data to decision-ready outputs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874519"/>
            <a:ext cx="566928" cy="566928"/>
          </a:xfrm>
          <a:prstGeom prst="ellipse">
            <a:avLst/>
          </a:prstGeom>
          <a:solidFill>
            <a:srgbClr val="24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9339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63238"/>
                </a:solidFill>
              </a:defRPr>
            </a:pPr>
            <a:r>
              <a:t>Ingest</a:t>
            </a:r>
          </a:p>
        </p:txBody>
      </p:sp>
      <p:sp>
        <p:nvSpPr>
          <p:cNvPr id="8" name="Oval 7"/>
          <p:cNvSpPr/>
          <p:nvPr/>
        </p:nvSpPr>
        <p:spPr>
          <a:xfrm>
            <a:off x="2221992" y="1874519"/>
            <a:ext cx="566928" cy="566928"/>
          </a:xfrm>
          <a:prstGeom prst="ellipse">
            <a:avLst/>
          </a:prstGeom>
          <a:solidFill>
            <a:srgbClr val="24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1992" y="199339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63238"/>
                </a:solidFill>
              </a:defRPr>
            </a:pPr>
            <a:r>
              <a:t>Validate</a:t>
            </a:r>
          </a:p>
        </p:txBody>
      </p:sp>
      <p:sp>
        <p:nvSpPr>
          <p:cNvPr id="11" name="Oval 10"/>
          <p:cNvSpPr/>
          <p:nvPr/>
        </p:nvSpPr>
        <p:spPr>
          <a:xfrm>
            <a:off x="3849624" y="1874519"/>
            <a:ext cx="566928" cy="566928"/>
          </a:xfrm>
          <a:prstGeom prst="ellipse">
            <a:avLst/>
          </a:prstGeom>
          <a:solidFill>
            <a:srgbClr val="24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9624" y="199339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63238"/>
                </a:solidFill>
              </a:defRPr>
            </a:pPr>
            <a:r>
              <a:t>Clean</a:t>
            </a:r>
          </a:p>
        </p:txBody>
      </p:sp>
      <p:sp>
        <p:nvSpPr>
          <p:cNvPr id="14" name="Oval 13"/>
          <p:cNvSpPr/>
          <p:nvPr/>
        </p:nvSpPr>
        <p:spPr>
          <a:xfrm>
            <a:off x="5477256" y="1874519"/>
            <a:ext cx="566928" cy="566928"/>
          </a:xfrm>
          <a:prstGeom prst="ellipse">
            <a:avLst/>
          </a:prstGeom>
          <a:solidFill>
            <a:srgbClr val="24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7256" y="199339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63238"/>
                </a:solidFill>
              </a:defRPr>
            </a:pPr>
            <a:r>
              <a:t>Load</a:t>
            </a:r>
          </a:p>
        </p:txBody>
      </p:sp>
      <p:sp>
        <p:nvSpPr>
          <p:cNvPr id="17" name="Oval 16"/>
          <p:cNvSpPr/>
          <p:nvPr/>
        </p:nvSpPr>
        <p:spPr>
          <a:xfrm>
            <a:off x="7104888" y="1874519"/>
            <a:ext cx="566928" cy="566928"/>
          </a:xfrm>
          <a:prstGeom prst="ellipse">
            <a:avLst/>
          </a:prstGeom>
          <a:solidFill>
            <a:srgbClr val="24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199339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63238"/>
                </a:solidFill>
              </a:defRPr>
            </a:pPr>
            <a:r>
              <a:t>Analyze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1874519"/>
            <a:ext cx="566928" cy="566928"/>
          </a:xfrm>
          <a:prstGeom prst="ellipse">
            <a:avLst/>
          </a:prstGeom>
          <a:solidFill>
            <a:srgbClr val="24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199339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63238"/>
                </a:solidFill>
              </a:defRPr>
            </a:pPr>
            <a:r>
              <a:t>Visualize</a:t>
            </a:r>
          </a:p>
        </p:txBody>
      </p:sp>
      <p:sp>
        <p:nvSpPr>
          <p:cNvPr id="23" name="Oval 22"/>
          <p:cNvSpPr/>
          <p:nvPr/>
        </p:nvSpPr>
        <p:spPr>
          <a:xfrm>
            <a:off x="10360152" y="1874519"/>
            <a:ext cx="566928" cy="566928"/>
          </a:xfrm>
          <a:prstGeom prst="ellipse">
            <a:avLst/>
          </a:prstGeom>
          <a:solidFill>
            <a:srgbClr val="24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0152" y="199339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0112" y="2606040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63238"/>
                </a:solidFill>
              </a:defRPr>
            </a:pPr>
            <a:r>
              <a:t>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749039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Cleaning covers date parsing, missing-value checks, outlier review, and categorical normalization.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The pipeline can be orchestrated with run_pipeline.py and individual stages can be executed separately.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651967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0"/>
                </a:solidFill>
              </a:defRPr>
            </a:pPr>
            <a:r>
              <a:t>Bluestock MF • Mutual Fund Analytics Capstone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Data Quality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AMFI scheme-code coverage is reported as 100% for the 20 master codes in the README.</a:t>
            </a:r>
          </a:p>
          <a:p>
            <a:pPr>
              <a:spcAft>
                <a:spcPts val="12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The workflow validates scheme identifiers before analysis so joins remain consistent.</a:t>
            </a:r>
          </a:p>
          <a:p>
            <a:pPr>
              <a:spcAft>
                <a:spcPts val="12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Live API responses should be checked using the returned scheme_name because AMFI codes can represent specific variants.</a:t>
            </a:r>
          </a:p>
          <a:p>
            <a:pPr>
              <a:spcAft>
                <a:spcPts val="12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Dates follow the DD-MM-YYYY format documented in the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417320"/>
            <a:ext cx="3337560" cy="2423160"/>
          </a:xfrm>
          <a:prstGeom prst="roundRect">
            <a:avLst/>
          </a:prstGeom>
          <a:solidFill>
            <a:srgbClr val="EAF3F8"/>
          </a:solidFill>
          <a:ln>
            <a:solidFill>
              <a:srgbClr val="BE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691640"/>
            <a:ext cx="2880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324D"/>
                </a:solidFill>
              </a:defRPr>
            </a:pPr>
            <a:r>
              <a:t>Important</a:t>
            </a:r>
          </a:p>
          <a:p>
            <a:pPr>
              <a:defRPr sz="1300">
                <a:solidFill>
                  <a:srgbClr val="263238"/>
                </a:solidFill>
              </a:defRPr>
            </a:pPr>
            <a:r>
              <a:t>Synthetic NAV history is described as directionally realistic, not market-real historical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1967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0"/>
                </a:solidFill>
              </a:defRPr>
            </a:pPr>
            <a:r>
              <a:t>Bluestock MF • Mutual Fund Analytics 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770"/>
                </a:solidFill>
                <a:latin typeface="Aptos"/>
              </a:defRPr>
            </a:pPr>
            <a:r>
              <a:t>The supplied report highlights NAV trends, cost dispersion, and return variation</a:t>
            </a:r>
          </a:p>
        </p:txBody>
      </p:sp>
      <p:pic>
        <p:nvPicPr>
          <p:cNvPr id="5" name="Picture 4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57784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6520" y="155448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NAV histories diverge materially across sample schemes.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Expense ratios show meaningful dispersion across schemes.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The project uses these patterns to motivate multi-factor comparison rather than single-metric ranking.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1967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0"/>
                </a:solidFill>
              </a:defRPr>
            </a:pPr>
            <a:r>
              <a:t>Bluestock MF • Mutual Fund Analytics 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NAV Trend Overview</a:t>
            </a:r>
          </a:p>
        </p:txBody>
      </p:sp>
      <p:pic>
        <p:nvPicPr>
          <p:cNvPr id="4" name="Picture 3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6400800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3977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The chart covers the 2015–2024 period.</a:t>
            </a:r>
          </a:p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Three example scheme series show different long-term trajectories.</a:t>
            </a:r>
          </a:p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Historical movement and volatility provide context that a single return figure cannot capture.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1967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0"/>
                </a:solidFill>
              </a:defRPr>
            </a:pPr>
            <a:r>
              <a:t>Bluestock MF • Mutual Fund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1-year return distribution is used to understand the range and concentration of recent performance.</a:t>
            </a:r>
          </a:p>
          <a:p>
            <a:pPr>
              <a:spcAft>
                <a:spcPts val="12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Alpha measures benchmark-relative performance and supports scheme ranking.</a:t>
            </a:r>
          </a:p>
          <a:p>
            <a:pPr>
              <a:spcAft>
                <a:spcPts val="12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Expense ratio provides a cost lens when comparing otherwise similar schemes.</a:t>
            </a:r>
          </a:p>
          <a:p>
            <a:pPr>
              <a:spcAft>
                <a:spcPts val="12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AUM momentum adds a scale and investor-flow perspective.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0"/>
                </a:solidFill>
              </a:defRPr>
            </a:pPr>
            <a:r>
              <a:t>Bluestock MF • Mutual Fund Analytics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Return Distribution and Alpha</a:t>
            </a:r>
          </a:p>
        </p:txBody>
      </p:sp>
      <p:pic>
        <p:nvPicPr>
          <p:cNvPr id="4" name="Picture 3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64008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63040"/>
            <a:ext cx="4251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The report appendix states an average 1-year return of 13.67%.</a:t>
            </a:r>
          </a:p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Top-alpha scheme codes shown are 121015, 119644, 121011, 121008, and 119092.</a:t>
            </a:r>
          </a:p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The project uses positive alpha as one screening signal, not as a standalone investment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1967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0"/>
                </a:solidFill>
              </a:defRPr>
            </a:pPr>
            <a:r>
              <a:t>Bluestock MF • Mutual Fund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Risk Drivers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4983480" cy="1600200"/>
          </a:xfrm>
          <a:prstGeom prst="roundRect">
            <a:avLst/>
          </a:prstGeom>
          <a:solidFill>
            <a:srgbClr val="EAF3F8"/>
          </a:solidFill>
          <a:ln>
            <a:solidFill>
              <a:srgbClr val="BE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26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7324D"/>
                </a:solidFill>
              </a:defRPr>
            </a:pPr>
            <a:r>
              <a:t>Alpha</a:t>
            </a:r>
          </a:p>
          <a:p>
            <a:pPr>
              <a:defRPr sz="1300">
                <a:solidFill>
                  <a:srgbClr val="263238"/>
                </a:solidFill>
              </a:defRPr>
            </a:pPr>
            <a:r>
              <a:t>Benchmark-relative value added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4983480" cy="1600200"/>
          </a:xfrm>
          <a:prstGeom prst="roundRect">
            <a:avLst/>
          </a:prstGeom>
          <a:solidFill>
            <a:srgbClr val="EAF3F8"/>
          </a:solidFill>
          <a:ln>
            <a:solidFill>
              <a:srgbClr val="BE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645920"/>
            <a:ext cx="4526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7324D"/>
                </a:solidFill>
              </a:defRPr>
            </a:pPr>
            <a:r>
              <a:t>Expense ratio</a:t>
            </a:r>
          </a:p>
          <a:p>
            <a:pPr>
              <a:defRPr sz="1300">
                <a:solidFill>
                  <a:srgbClr val="263238"/>
                </a:solidFill>
              </a:defRPr>
            </a:pPr>
            <a:r>
              <a:t>Cost paid for managing the scheme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66160"/>
            <a:ext cx="4983480" cy="1600200"/>
          </a:xfrm>
          <a:prstGeom prst="roundRect">
            <a:avLst/>
          </a:prstGeom>
          <a:solidFill>
            <a:srgbClr val="EAF3F8"/>
          </a:solidFill>
          <a:ln>
            <a:solidFill>
              <a:srgbClr val="BE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4526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7324D"/>
                </a:solidFill>
              </a:defRPr>
            </a:pPr>
            <a:r>
              <a:t>AUM stability</a:t>
            </a:r>
          </a:p>
          <a:p>
            <a:pPr>
              <a:defRPr sz="1300">
                <a:solidFill>
                  <a:srgbClr val="263238"/>
                </a:solidFill>
              </a:defRPr>
            </a:pPr>
            <a:r>
              <a:t>Indicator to monitor scale and investor-flow behavior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566160"/>
            <a:ext cx="4983480" cy="1600200"/>
          </a:xfrm>
          <a:prstGeom prst="roundRect">
            <a:avLst/>
          </a:prstGeom>
          <a:solidFill>
            <a:srgbClr val="EAF3F8"/>
          </a:solidFill>
          <a:ln>
            <a:solidFill>
              <a:srgbClr val="BE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794760"/>
            <a:ext cx="4526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7324D"/>
                </a:solidFill>
              </a:defRPr>
            </a:pPr>
            <a:r>
              <a:t>Volatility</a:t>
            </a:r>
          </a:p>
          <a:p>
            <a:pPr>
              <a:defRPr sz="1300">
                <a:solidFill>
                  <a:srgbClr val="263238"/>
                </a:solidFill>
              </a:defRPr>
            </a:pPr>
            <a:r>
              <a:t>Helps frame return with downside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51967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0"/>
                </a:solidFill>
              </a:defRPr>
            </a:pPr>
            <a:r>
              <a:t>Bluestock MF • Mutual Fund Analytics Capstone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AUM Momentum</a:t>
            </a:r>
          </a:p>
        </p:txBody>
      </p:sp>
      <p:pic>
        <p:nvPicPr>
          <p:cNvPr id="4" name="Picture 3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6583680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50876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The supplied chart shows substantial month-to-month AUM movement for scheme 121018.</a:t>
            </a:r>
          </a:p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This supports monitoring AUM stability over time rather than relying on a single AUM snapshot.</a:t>
            </a:r>
          </a:p>
          <a:p>
            <a:pPr>
              <a:spcAft>
                <a:spcPts val="12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AUM should be interpreted together with returns, risk, and cost.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1967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0"/>
                </a:solidFill>
              </a:defRPr>
            </a:pPr>
            <a:r>
              <a:t>Bluestock MF • Mutual Fund Analytics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Average 1-year return reported: 13.67%.</a:t>
            </a:r>
          </a:p>
          <a:p>
            <a:pPr>
              <a:spcAft>
                <a:spcPts val="12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Average expense ratio reported: 1.30%.</a:t>
            </a:r>
          </a:p>
          <a:p>
            <a:pPr>
              <a:spcAft>
                <a:spcPts val="12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Positive alpha, moderate costs, and stable AUM growth are the main screening signals highlighted by the project.</a:t>
            </a:r>
          </a:p>
          <a:p>
            <a:pPr>
              <a:spcAft>
                <a:spcPts val="12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The dashboard combines NAV trends, expense distribution, performance rankings, and AUM analytics for rapid comparison.</a:t>
            </a:r>
          </a:p>
          <a:p>
            <a:pPr>
              <a:spcAft>
                <a:spcPts val="12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The current work is an analytics foundation—not personalized financial advice.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0"/>
                </a:solidFill>
              </a:defRPr>
            </a:pPr>
            <a:r>
              <a:t>Bluestock MF • Mutual Fund Analytics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t>Recommendations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Prioritize funds with positive alpha and attractive risk-adjusted outcomes.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Prefer moderate expense ratios when other characteristics are comparable.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Monitor AUM stability and downside risk.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Extend the solution with live daily AMFI integration and a wider scheme universe.</a:t>
            </a:r>
          </a:p>
          <a:p>
            <a:pPr>
              <a:spcAft>
                <a:spcPts val="12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Add direct-vs-regular plan differentiation, interactive filters, scenario simulations, Monte Carlo modeling, optimization, and automated investor reporting.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0"/>
                </a:solidFill>
              </a:defRPr>
            </a:pPr>
            <a:r>
              <a:t>Bluestock MF • Mutual Fund Analytics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1800">
                <a:solidFill>
                  <a:srgbClr val="CDE1EB"/>
                </a:solidFill>
              </a:defRPr>
            </a:pPr>
            <a:r>
              <a:t>Bluestock MF — Mutual Fund Analytics</a:t>
            </a:r>
          </a:p>
          <a:p>
            <a:pPr algn="ctr">
              <a:defRPr sz="1600">
                <a:solidFill>
                  <a:srgbClr val="DCE6EB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0"/>
                </a:solidFill>
              </a:defRPr>
            </a:pPr>
            <a:r>
              <a:t>Bluestock MF • Mutual Fund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77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Final Presentation</dc:title>
  <dc:subject>Mutual Fund Analytics Capstone</dc:subject>
  <dc:creator>Bluestock MF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