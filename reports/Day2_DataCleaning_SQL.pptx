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7315200" cy="45720"/>
          </a:xfrm>
          <a:prstGeom prst="rect">
            <a:avLst/>
          </a:prstGeom>
          <a:solidFill>
            <a:srgbClr val="4FC3F7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90A4AE"/>
                </a:solidFill>
              </a:rPr>
              <a:t>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9144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4FC3F7"/>
                </a:solidFill>
              </a:rPr>
              <a:t>Data Cleaning +
SQL Database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90A4AE"/>
                </a:solidFill>
              </a:rPr>
              <a:t>Cleaned 12 datasets  ·  SQLite star schema  ·  10 analytical queries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72000"/>
            <a:ext cx="164592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590288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FC3F7"/>
                </a:solidFill>
              </a:rPr>
              <a:t>pandas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4572000"/>
            <a:ext cx="164592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4590288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FC3F7"/>
                </a:solidFill>
              </a:rPr>
              <a:t>SQLite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4572000"/>
            <a:ext cx="164592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4590288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FC3F7"/>
                </a:solidFill>
              </a:rPr>
              <a:t>SQLAlchemy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4572000"/>
            <a:ext cx="164592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4590288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FC3F7"/>
                </a:solidFill>
              </a:rPr>
              <a:t>Star Schema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572000"/>
            <a:ext cx="164592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590288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FC3F7"/>
                </a:solidFill>
              </a:rPr>
              <a:t>10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179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0A4AE"/>
                </a:solidFill>
              </a:rPr>
              <a:t>github.com/JASWANTH1726/mf-analysis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0A4AE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4FC3F7"/>
                </a:solidFill>
              </a:rPr>
              <a:t>Data Cleaning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86968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886968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886968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Cleaning Applied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nav_history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2527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BB6A"/>
                </a:solidFill>
              </a:rPr>
              <a:t>69,880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252728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Dates parsed · duplicates removed · forward-filled holidays/weekends · NAV &gt; 0 validated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55648"/>
            <a:ext cx="11247120" cy="5029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73936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investor_transactions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773936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BB6A"/>
                </a:solidFill>
              </a:rPr>
              <a:t>1,998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773936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txn_type standardised · bad dates dropped · amount &lt;= 0 removed · KYC values normalised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76856"/>
            <a:ext cx="11247120" cy="50292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95144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scheme_performance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295144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BB6A"/>
                </a:solidFill>
              </a:rPr>
              <a:t>399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295144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Non-numeric returns coerced · ret_1y outliers capped at 3σ · expense_ratio clipped [0.1–2.5]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98064"/>
            <a:ext cx="11247120" cy="5029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1635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fund_master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81635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BB6A"/>
                </a:solidFill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816352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launch_date parsed to datetime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19272"/>
            <a:ext cx="11247120" cy="50292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375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aum_data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3375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BB6A"/>
                </a:solidFill>
              </a:rPr>
              <a:t>720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33756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month parsed to datetime · aum_cr &gt; 0 validated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40479"/>
            <a:ext cx="11247120" cy="5029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85876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returns_data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85876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BB6A"/>
                </a:solidFill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858768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as_of parsed to datetime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361688"/>
            <a:ext cx="11247120" cy="50292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379976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risk_metrics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379976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BB6A"/>
                </a:solidFill>
              </a:rPr>
              <a:t>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379976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as_of parsed to datetime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82896"/>
            <a:ext cx="11247120" cy="5029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901183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expense_ratio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901183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BB6A"/>
                </a:solidFill>
              </a:rPr>
              <a:t>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901183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effective_date parsed to datetime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404104"/>
            <a:ext cx="11247120" cy="50292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4223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portfolio_holdings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5422392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BB6A"/>
                </a:solidFill>
              </a:rPr>
              <a:t>200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5422392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as_of parsed · zero-weight rows removed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925312"/>
            <a:ext cx="11247120" cy="5029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9436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benchmark_data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03320" y="59436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BB6A"/>
                </a:solidFill>
              </a:rPr>
              <a:t>500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594360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date parsed to datetime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0A4AE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4FC3F7"/>
                </a:solidFill>
              </a:rPr>
              <a:t>nav_history — Cleaning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02920" cy="914400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411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4FC3F7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005840"/>
            <a:ext cx="10515600" cy="91440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051560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Parse 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898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pd.to_datetime(df['date'], dayfirst=True)
Converts DD-MM-YYYY strings to proper datetime objects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502920" cy="914400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411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4FC3F7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103120"/>
            <a:ext cx="10515600" cy="91440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148839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Remove Duplicates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drop_duplicates(subset=['scheme_code','date'])
Ensures one NAV per scheme per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502920" cy="914400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91839"/>
            <a:ext cx="411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4FC3F7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200400"/>
            <a:ext cx="10515600" cy="91440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246120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58444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sort_values(['scheme_code','date'])
Required before forward-fill to maintain chronological order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97679"/>
            <a:ext cx="502920" cy="914400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89120"/>
            <a:ext cx="411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4FC3F7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297679"/>
            <a:ext cx="10515600" cy="91440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343400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Forward-fill 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81727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reindex(full_date_range).ffill()
Fills weekends and market holidays with last known NAV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94960"/>
            <a:ext cx="502920" cy="914400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486400"/>
            <a:ext cx="411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4FC3F7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5394960"/>
            <a:ext cx="10515600" cy="91440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5440679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Validate NAV &gt;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77900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df[df['nav'] &lt;= 0] dropped
Negative or zero NAV is invalid — data corruption indicator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0A4AE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4FC3F7"/>
                </a:solidFill>
              </a:rPr>
              <a:t>Transactions &amp; Performance Cleaning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</a:rPr>
              <a:t>investor_transactions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212080" cy="91440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txn_type standardisation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sip → SIP
LUMP SUM → Lumpsum
Redemption stays Redemption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5212080" cy="91440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Date format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2024/06/15 → 2024-06-15
pd.to_datetime(errors='coerce')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20440"/>
            <a:ext cx="5212080" cy="91440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Amount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Dropped 1 row with amount = -500
All amounts must be &gt;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26280"/>
            <a:ext cx="5212080" cy="91440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KYC normalisation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verified → KYC_VERIFIED
Unknown values → KYC_PENDING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914400"/>
            <a:ext cx="5486400" cy="548640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0058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</a:rPr>
              <a:t>scheme_performance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508760"/>
            <a:ext cx="5212080" cy="91440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5544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Non-numeric coercion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874519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ret_3m had 'N/A' string
pd.to_numeric(errors='coerce') → NaN → row dropped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514600"/>
            <a:ext cx="5212080" cy="91440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5603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Outlier capping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88036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ret_1y = 999.0 detected
Capped at mean + 3σ = ~41.2%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520440"/>
            <a:ext cx="5212080" cy="91440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5661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Expense ratio clip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88620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expense_ratio = 5.5 found
SEBI max is 2.5% → clipped to 2.5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526280"/>
            <a:ext cx="5212080" cy="91440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9204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0A4AE"/>
                </a:solidFill>
              </a:rPr>
              <a:t>400 raw rows → 399 clean rows
1 row dropped (non-numeric ret_3m)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0A4AE"/>
                </a:solidFill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4FC3F7"/>
                </a:solidFill>
              </a:rPr>
              <a:t>SQLite Star Schema — bluestock_mf.db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200400" cy="2560320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FC3F7"/>
                </a:solidFill>
              </a:rPr>
              <a:t>dim_fund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scheme_code (PK)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scheme_name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9397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fund_house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86584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9191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sub_category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risk_grade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6440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3200400" cy="2560320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FC3F7"/>
                </a:solidFill>
              </a:rPr>
              <a:t>dim_date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date_id (PK)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3600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2861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year / quarter /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21224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month_name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1383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0644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day_of_week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9904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is_weekend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914400"/>
            <a:ext cx="3840480" cy="25603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100584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A726"/>
                </a:solidFill>
              </a:rPr>
              <a:t>fact_nav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14173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id (PK)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176479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scheme_code (FK)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112264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2459736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nav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3200400"/>
            <a:ext cx="3840480" cy="25603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329184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A726"/>
                </a:solidFill>
              </a:rPr>
              <a:t>fact_transactions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37033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txn_id (PK)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050791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scheme_code (FK)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398264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txn_date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745736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txn_type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50932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amount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5440679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kyc_status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914400"/>
            <a:ext cx="3840480" cy="25603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100584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A726"/>
                </a:solidFill>
              </a:rPr>
              <a:t>fact_performance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14173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id (PK)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1764792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scheme_code (FK)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2112264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period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459736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ret_1y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28072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expense_ratio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154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alpha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3200400"/>
            <a:ext cx="3840480" cy="25603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329184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A726"/>
                </a:solidFill>
              </a:rPr>
              <a:t>fact_aum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37033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id (PK)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050791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scheme_code (FK)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398264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month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745736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aum_cr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0932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folios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0A4AE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4FC3F7"/>
                </a:solidFill>
              </a:rPr>
              <a:t>10 Analytical SQL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86968"/>
            <a:ext cx="2743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886968"/>
            <a:ext cx="2743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886968"/>
            <a:ext cx="2743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Key SQL Pattern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25272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Top 5 funds by latest AUM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25272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fact_aum JOIN dim_fund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55648"/>
            <a:ext cx="11247120" cy="5029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73936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773936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Average NAV per month (2024)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773936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fact_nav GROUP BY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76856"/>
            <a:ext cx="11247120" cy="50292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95144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295144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SIP count &amp; amount — year over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95144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fact_transactions WHERE txn_type='SIP'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98064"/>
            <a:ext cx="11247120" cy="5029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1635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81635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Total transactions &amp; amount by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1635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fact_transactions GROUP BY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19272"/>
            <a:ext cx="11247120" cy="50292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375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Q5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3375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Funds with expense ratio &lt; 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fact_performance HAVING avg_ter &lt; 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40479"/>
            <a:ext cx="11247120" cy="5029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858768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Q6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85876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Best 1-year performers vs benchmark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5876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fact_performance ORDER BY ret_1y DESC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361688"/>
            <a:ext cx="11247120" cy="50292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379976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Q7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379976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Monthly AUM trend for top 3 funds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379976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fact_aum WHERE scheme_code IN (top 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82896"/>
            <a:ext cx="11247120" cy="5029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901183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Q8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4901183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KYC status breakdown of investors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901183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fact_transactions GROUP BY kyc_status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404104"/>
            <a:ext cx="11247120" cy="50292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42239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Q9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42239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Redemption rate per fund (%)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4223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CASE WHEN txn_type='Redemption' / COUNT(*)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925312"/>
            <a:ext cx="11247120" cy="5029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9436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Q10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594360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Funds with alpha &gt; 0 (risk-adjusted return)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943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fact_performance HAVING avg_alpha &gt; 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0A4AE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4FC3F7"/>
                </a:solidFill>
              </a:rPr>
              <a:t>Data Dictionary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86968"/>
            <a:ext cx="3657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886968"/>
            <a:ext cx="3657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FC3F7"/>
                </a:solidFill>
              </a:rPr>
              <a:t>Columns &amp; Constraints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A726"/>
                </a:solidFill>
              </a:rPr>
              <a:t>dim_fund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6187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scheme_code, scheme_name, fund_house, category, sub_category, risk_grade, benchmark, exit_load_pct, min_sip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92808"/>
            <a:ext cx="11247120" cy="6400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20239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A726"/>
                </a:solidFill>
              </a:rPr>
              <a:t>dim_date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920239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date_id, date, year, quarter, month, month_name, week, day_of_week, is_weekend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51176"/>
            <a:ext cx="11247120" cy="64008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78608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A726"/>
                </a:solidFill>
              </a:rPr>
              <a:t>fact_nav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578608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id, scheme_code (FK), date, nav — CHECK nav &gt; 0 — UNIQUE (scheme_code, date)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9544"/>
            <a:ext cx="11247120" cy="6400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36976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A726"/>
                </a:solidFill>
              </a:rPr>
              <a:t>fact_transactions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36976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txn_id (PK), scheme_code (FK), txn_date, txn_type, amount, units, nav, investor_id, state, kyc_status, folio_no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67912"/>
            <a:ext cx="11247120" cy="640080"/>
          </a:xfrm>
          <a:prstGeom prst="rect">
            <a:avLst/>
          </a:prstGeom>
          <a:solidFill>
            <a:srgbClr val="12151F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95344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A726"/>
                </a:solidFill>
              </a:rPr>
              <a:t>fact_performance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895344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id, scheme_code (FK), period, ret_1m/3m/6m/1y, expense_ratio, benchmark_ret, alpha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26279"/>
            <a:ext cx="11247120" cy="6400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53712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A726"/>
                </a:solidFill>
              </a:rPr>
              <a:t>fact_aum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553712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0A4AE"/>
                </a:solidFill>
              </a:rPr>
              <a:t>id, scheme_code (FK), month, aum_cr (Crores), folios — UNIQUE (scheme_code, month)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1247120" cy="128016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FC3F7"/>
                </a:solidFill>
              </a:rPr>
              <a:t>Business Rules enforced in schema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nav &gt; 0  ·  amount &gt; 0  ·  txn_type IN ('SIP','Lumpsum','Redemption')  ·  kyc_status IN ('KYC_VERIFIED','KYC_PENDING','KYC_REJECTED')  ·  expense_ratio BETWEEN 0.1 AND 2.5  ·  aum_cr &gt;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0A4AE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4FC3F7"/>
                </a:solidFill>
              </a:rPr>
              <a:t>Day 2 —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474720" cy="15544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291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4FC3F7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0A4AE"/>
                </a:solidFill>
              </a:rPr>
              <a:t>Datasets Cleaned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005840"/>
            <a:ext cx="3474720" cy="15544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097280"/>
            <a:ext cx="3291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4FC3F7"/>
                </a:solidFill>
              </a:rPr>
              <a:t>69,880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187451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0A4AE"/>
                </a:solidFill>
              </a:rPr>
              <a:t>NAV Rows (post fill)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005840"/>
            <a:ext cx="3474720" cy="15544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1097280"/>
            <a:ext cx="3291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4FC3F7"/>
                </a:solidFill>
              </a:rPr>
              <a:t>1,998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1874519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0A4AE"/>
                </a:solidFill>
              </a:rPr>
              <a:t>Clean Transactions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3474720" cy="15544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3291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4FC3F7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0A4AE"/>
                </a:solidFill>
              </a:rPr>
              <a:t>DB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834640"/>
            <a:ext cx="3474720" cy="15544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2926080"/>
            <a:ext cx="3291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4FC3F7"/>
                </a:solidFill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3703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0A4AE"/>
                </a:solidFill>
              </a:rPr>
              <a:t>SQL Queries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834640"/>
            <a:ext cx="3474720" cy="155448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2926080"/>
            <a:ext cx="3291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4FC3F7"/>
                </a:solidFill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3703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0A4AE"/>
                </a:solidFill>
              </a:rPr>
              <a:t>FK Coverage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1A1F35"/>
          </a:solidFill>
          <a:ln w="6350"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FC3F7"/>
                </a:solidFill>
              </a:rPr>
              <a:t>Deliverables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data_cleaning.py  ·  db_load.py  ·  bluestock_mf.db  ·  sql/schema.sql  ·  sql/queries.sql  ·  data_dictionary.md  ·  10 cleaned CSVs in data/processed/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0A4AE"/>
                </a:solidFill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