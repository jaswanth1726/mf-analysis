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97280"/>
            <a:ext cx="7772400" cy="54864"/>
          </a:xfrm>
          <a:prstGeom prst="rect">
            <a:avLst/>
          </a:prstGeom>
          <a:solidFill>
            <a:srgbClr val="4FC3F7"/>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9144000" cy="1097280"/>
          </a:xfrm>
          <a:prstGeom prst="rect">
            <a:avLst/>
          </a:prstGeom>
          <a:noFill/>
        </p:spPr>
        <p:txBody>
          <a:bodyPr wrap="square">
            <a:spAutoFit/>
          </a:bodyPr>
          <a:lstStyle/>
          <a:p>
            <a:pPr algn="l"/>
            <a:r>
              <a:rPr sz="4800" b="1">
                <a:solidFill>
                  <a:srgbClr val="4FC3F7"/>
                </a:solidFill>
              </a:rPr>
              <a:t>MUTUAL FUND ANALYSIS</a:t>
            </a:r>
          </a:p>
        </p:txBody>
      </p:sp>
      <p:sp>
        <p:nvSpPr>
          <p:cNvPr id="6" name="TextBox 5"/>
          <p:cNvSpPr txBox="1"/>
          <p:nvPr/>
        </p:nvSpPr>
        <p:spPr>
          <a:xfrm>
            <a:off x="548640" y="2468880"/>
            <a:ext cx="3657600" cy="640080"/>
          </a:xfrm>
          <a:prstGeom prst="rect">
            <a:avLst/>
          </a:prstGeom>
          <a:noFill/>
        </p:spPr>
        <p:txBody>
          <a:bodyPr wrap="square">
            <a:spAutoFit/>
          </a:bodyPr>
          <a:lstStyle/>
          <a:p>
            <a:pPr algn="l"/>
            <a:r>
              <a:rPr sz="3600" b="1">
                <a:solidFill>
                  <a:srgbClr val="FFFFFF"/>
                </a:solidFill>
              </a:rPr>
              <a:t>India</a:t>
            </a:r>
          </a:p>
        </p:txBody>
      </p:sp>
      <p:sp>
        <p:nvSpPr>
          <p:cNvPr id="7" name="TextBox 6"/>
          <p:cNvSpPr txBox="1"/>
          <p:nvPr/>
        </p:nvSpPr>
        <p:spPr>
          <a:xfrm>
            <a:off x="548640" y="3200400"/>
            <a:ext cx="8229600" cy="822960"/>
          </a:xfrm>
          <a:prstGeom prst="rect">
            <a:avLst/>
          </a:prstGeom>
          <a:noFill/>
        </p:spPr>
        <p:txBody>
          <a:bodyPr wrap="square">
            <a:spAutoFit/>
          </a:bodyPr>
          <a:lstStyle/>
          <a:p>
            <a:pPr algn="l"/>
            <a:r>
              <a:rPr sz="1600" b="0">
                <a:solidFill>
                  <a:srgbClr val="90A4AE"/>
                </a:solidFill>
              </a:rPr>
              <a:t>End-to-end data pipeline for 20 AMFI-registered schemes
across 10 fund houses  ·  Live NAV  ·  Risk &amp; Returns</a:t>
            </a:r>
          </a:p>
        </p:txBody>
      </p:sp>
      <p:sp>
        <p:nvSpPr>
          <p:cNvPr id="8" name="Rectangle 7"/>
          <p:cNvSpPr/>
          <p:nvPr/>
        </p:nvSpPr>
        <p:spPr>
          <a:xfrm>
            <a:off x="548640" y="4297680"/>
            <a:ext cx="1554480" cy="365760"/>
          </a:xfrm>
          <a:prstGeom prst="rect">
            <a:avLst/>
          </a:prstGeom>
          <a:solidFill>
            <a:srgbClr val="1E3A5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4315968"/>
            <a:ext cx="1463040" cy="329184"/>
          </a:xfrm>
          <a:prstGeom prst="rect">
            <a:avLst/>
          </a:prstGeom>
          <a:noFill/>
        </p:spPr>
        <p:txBody>
          <a:bodyPr wrap="square">
            <a:spAutoFit/>
          </a:bodyPr>
          <a:lstStyle/>
          <a:p>
            <a:pPr algn="ctr"/>
            <a:r>
              <a:rPr sz="1100" b="0">
                <a:solidFill>
                  <a:srgbClr val="4FC3F7"/>
                </a:solidFill>
              </a:rPr>
              <a:t>Python</a:t>
            </a:r>
          </a:p>
        </p:txBody>
      </p:sp>
      <p:sp>
        <p:nvSpPr>
          <p:cNvPr id="10" name="Rectangle 9"/>
          <p:cNvSpPr/>
          <p:nvPr/>
        </p:nvSpPr>
        <p:spPr>
          <a:xfrm>
            <a:off x="2286000" y="4297680"/>
            <a:ext cx="1554480" cy="365760"/>
          </a:xfrm>
          <a:prstGeom prst="rect">
            <a:avLst/>
          </a:prstGeom>
          <a:solidFill>
            <a:srgbClr val="1E3A5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1720" y="4315968"/>
            <a:ext cx="1463040" cy="329184"/>
          </a:xfrm>
          <a:prstGeom prst="rect">
            <a:avLst/>
          </a:prstGeom>
          <a:noFill/>
        </p:spPr>
        <p:txBody>
          <a:bodyPr wrap="square">
            <a:spAutoFit/>
          </a:bodyPr>
          <a:lstStyle/>
          <a:p>
            <a:pPr algn="ctr"/>
            <a:r>
              <a:rPr sz="1100" b="0">
                <a:solidFill>
                  <a:srgbClr val="4FC3F7"/>
                </a:solidFill>
              </a:rPr>
              <a:t>Pandas</a:t>
            </a:r>
          </a:p>
        </p:txBody>
      </p:sp>
      <p:sp>
        <p:nvSpPr>
          <p:cNvPr id="12" name="Rectangle 11"/>
          <p:cNvSpPr/>
          <p:nvPr/>
        </p:nvSpPr>
        <p:spPr>
          <a:xfrm>
            <a:off x="4023359" y="4297680"/>
            <a:ext cx="1554480" cy="365760"/>
          </a:xfrm>
          <a:prstGeom prst="rect">
            <a:avLst/>
          </a:prstGeom>
          <a:solidFill>
            <a:srgbClr val="1E3A5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69080" y="4315968"/>
            <a:ext cx="1463040" cy="329184"/>
          </a:xfrm>
          <a:prstGeom prst="rect">
            <a:avLst/>
          </a:prstGeom>
          <a:noFill/>
        </p:spPr>
        <p:txBody>
          <a:bodyPr wrap="square">
            <a:spAutoFit/>
          </a:bodyPr>
          <a:lstStyle/>
          <a:p>
            <a:pPr algn="ctr"/>
            <a:r>
              <a:rPr sz="1100" b="0">
                <a:solidFill>
                  <a:srgbClr val="4FC3F7"/>
                </a:solidFill>
              </a:rPr>
              <a:t>mfapi.in</a:t>
            </a:r>
          </a:p>
        </p:txBody>
      </p:sp>
      <p:sp>
        <p:nvSpPr>
          <p:cNvPr id="14" name="Rectangle 13"/>
          <p:cNvSpPr/>
          <p:nvPr/>
        </p:nvSpPr>
        <p:spPr>
          <a:xfrm>
            <a:off x="5760719" y="4297680"/>
            <a:ext cx="1554480" cy="365760"/>
          </a:xfrm>
          <a:prstGeom prst="rect">
            <a:avLst/>
          </a:prstGeom>
          <a:solidFill>
            <a:srgbClr val="1E3A5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06440" y="4315968"/>
            <a:ext cx="1463040" cy="329184"/>
          </a:xfrm>
          <a:prstGeom prst="rect">
            <a:avLst/>
          </a:prstGeom>
          <a:noFill/>
        </p:spPr>
        <p:txBody>
          <a:bodyPr wrap="square">
            <a:spAutoFit/>
          </a:bodyPr>
          <a:lstStyle/>
          <a:p>
            <a:pPr algn="ctr"/>
            <a:r>
              <a:rPr sz="1100" b="0">
                <a:solidFill>
                  <a:srgbClr val="4FC3F7"/>
                </a:solidFill>
              </a:rPr>
              <a:t>AMFI Data</a:t>
            </a:r>
          </a:p>
        </p:txBody>
      </p:sp>
      <p:sp>
        <p:nvSpPr>
          <p:cNvPr id="16" name="Rectangle 15"/>
          <p:cNvSpPr/>
          <p:nvPr/>
        </p:nvSpPr>
        <p:spPr>
          <a:xfrm>
            <a:off x="7498079" y="4297680"/>
            <a:ext cx="1554480" cy="365760"/>
          </a:xfrm>
          <a:prstGeom prst="rect">
            <a:avLst/>
          </a:prstGeom>
          <a:solidFill>
            <a:srgbClr val="1E3A5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3800" y="4315968"/>
            <a:ext cx="1463040" cy="329184"/>
          </a:xfrm>
          <a:prstGeom prst="rect">
            <a:avLst/>
          </a:prstGeom>
          <a:noFill/>
        </p:spPr>
        <p:txBody>
          <a:bodyPr wrap="square">
            <a:spAutoFit/>
          </a:bodyPr>
          <a:lstStyle/>
          <a:p>
            <a:pPr algn="ctr"/>
            <a:r>
              <a:rPr sz="1100" b="0">
                <a:solidFill>
                  <a:srgbClr val="4FC3F7"/>
                </a:solidFill>
              </a:rPr>
              <a:t>10 Fund Houses</a:t>
            </a:r>
          </a:p>
        </p:txBody>
      </p:sp>
      <p:sp>
        <p:nvSpPr>
          <p:cNvPr id="18" name="TextBox 17"/>
          <p:cNvSpPr txBox="1"/>
          <p:nvPr/>
        </p:nvSpPr>
        <p:spPr>
          <a:xfrm>
            <a:off x="548640" y="6217920"/>
            <a:ext cx="9144000" cy="365760"/>
          </a:xfrm>
          <a:prstGeom prst="rect">
            <a:avLst/>
          </a:prstGeom>
          <a:noFill/>
        </p:spPr>
        <p:txBody>
          <a:bodyPr wrap="square">
            <a:spAutoFit/>
          </a:bodyPr>
          <a:lstStyle/>
          <a:p>
            <a:pPr algn="l"/>
            <a:r>
              <a:rPr sz="1100" b="0">
                <a:solidFill>
                  <a:srgbClr val="90A4AE"/>
                </a:solidFill>
              </a:rPr>
              <a:t>Jaswanth  ·  github.com/JASWANTH1726/mf-analysis</a:t>
            </a:r>
          </a:p>
        </p:txBody>
      </p:sp>
      <p:sp>
        <p:nvSpPr>
          <p:cNvPr id="19" name="TextBox 18"/>
          <p:cNvSpPr txBox="1"/>
          <p:nvPr/>
        </p:nvSpPr>
        <p:spPr>
          <a:xfrm>
            <a:off x="11247120" y="6492240"/>
            <a:ext cx="731520" cy="274320"/>
          </a:xfrm>
          <a:prstGeom prst="rect">
            <a:avLst/>
          </a:prstGeom>
          <a:noFill/>
        </p:spPr>
        <p:txBody>
          <a:bodyPr wrap="square">
            <a:spAutoFit/>
          </a:bodyPr>
          <a:lstStyle/>
          <a:p>
            <a:pPr algn="r"/>
            <a:r>
              <a:rPr sz="1000" b="0">
                <a:solidFill>
                  <a:srgbClr val="90A4AE"/>
                </a:solidFill>
              </a:rP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9144000" cy="548640"/>
          </a:xfrm>
          <a:prstGeom prst="rect">
            <a:avLst/>
          </a:prstGeom>
          <a:noFill/>
        </p:spPr>
        <p:txBody>
          <a:bodyPr wrap="square">
            <a:spAutoFit/>
          </a:bodyPr>
          <a:lstStyle/>
          <a:p>
            <a:pPr algn="l"/>
            <a:r>
              <a:rPr sz="2800" b="1">
                <a:solidFill>
                  <a:srgbClr val="4FC3F7"/>
                </a:solidFill>
              </a:rPr>
              <a:t>Problem Statement</a:t>
            </a:r>
          </a:p>
        </p:txBody>
      </p:sp>
      <p:sp>
        <p:nvSpPr>
          <p:cNvPr id="5" name="Rectangle 4"/>
          <p:cNvSpPr/>
          <p:nvPr/>
        </p:nvSpPr>
        <p:spPr>
          <a:xfrm>
            <a:off x="548640" y="1005840"/>
            <a:ext cx="5303520" cy="292608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97280"/>
            <a:ext cx="4937760" cy="1371600"/>
          </a:xfrm>
          <a:prstGeom prst="rect">
            <a:avLst/>
          </a:prstGeom>
          <a:noFill/>
        </p:spPr>
        <p:txBody>
          <a:bodyPr wrap="square">
            <a:spAutoFit/>
          </a:bodyPr>
          <a:lstStyle/>
          <a:p>
            <a:pPr algn="l"/>
            <a:r>
              <a:rPr sz="1300" b="0">
                <a:solidFill>
                  <a:srgbClr val="90A4AE"/>
                </a:solidFill>
              </a:rPr>
              <a:t>India has 44+ AMCs and over 2,500 mutual fund schemes.
Retail investors have no unified way to compare funds on
risk-adjusted returns, portfolio overlap, expense ratios,
or manager track records — all in one place.</a:t>
            </a:r>
          </a:p>
        </p:txBody>
      </p:sp>
      <p:sp>
        <p:nvSpPr>
          <p:cNvPr id="7" name="TextBox 6"/>
          <p:cNvSpPr txBox="1"/>
          <p:nvPr/>
        </p:nvSpPr>
        <p:spPr>
          <a:xfrm>
            <a:off x="731520" y="2560320"/>
            <a:ext cx="4937760" cy="329184"/>
          </a:xfrm>
          <a:prstGeom prst="rect">
            <a:avLst/>
          </a:prstGeom>
          <a:noFill/>
        </p:spPr>
        <p:txBody>
          <a:bodyPr wrap="square">
            <a:spAutoFit/>
          </a:bodyPr>
          <a:lstStyle/>
          <a:p>
            <a:pPr algn="l"/>
            <a:r>
              <a:rPr sz="1200" b="0">
                <a:solidFill>
                  <a:srgbClr val="FFFFFF"/>
                </a:solidFill>
              </a:rPr>
              <a:t>→  NAV data scattered across AMC websites</a:t>
            </a:r>
          </a:p>
        </p:txBody>
      </p:sp>
      <p:sp>
        <p:nvSpPr>
          <p:cNvPr id="8" name="TextBox 7"/>
          <p:cNvSpPr txBox="1"/>
          <p:nvPr/>
        </p:nvSpPr>
        <p:spPr>
          <a:xfrm>
            <a:off x="731520" y="2907791"/>
            <a:ext cx="4937760" cy="329184"/>
          </a:xfrm>
          <a:prstGeom prst="rect">
            <a:avLst/>
          </a:prstGeom>
          <a:noFill/>
        </p:spPr>
        <p:txBody>
          <a:bodyPr wrap="square">
            <a:spAutoFit/>
          </a:bodyPr>
          <a:lstStyle/>
          <a:p>
            <a:pPr algn="l"/>
            <a:r>
              <a:rPr sz="1200" b="0">
                <a:solidFill>
                  <a:srgbClr val="FFFFFF"/>
                </a:solidFill>
              </a:rPr>
              <a:t>→  No unified view of risk metrics vs returns</a:t>
            </a:r>
          </a:p>
        </p:txBody>
      </p:sp>
      <p:sp>
        <p:nvSpPr>
          <p:cNvPr id="9" name="TextBox 8"/>
          <p:cNvSpPr txBox="1"/>
          <p:nvPr/>
        </p:nvSpPr>
        <p:spPr>
          <a:xfrm>
            <a:off x="731520" y="3255263"/>
            <a:ext cx="4937760" cy="329184"/>
          </a:xfrm>
          <a:prstGeom prst="rect">
            <a:avLst/>
          </a:prstGeom>
          <a:noFill/>
        </p:spPr>
        <p:txBody>
          <a:bodyPr wrap="square">
            <a:spAutoFit/>
          </a:bodyPr>
          <a:lstStyle/>
          <a:p>
            <a:pPr algn="l"/>
            <a:r>
              <a:rPr sz="1200" b="0">
                <a:solidFill>
                  <a:srgbClr val="FFFFFF"/>
                </a:solidFill>
              </a:rPr>
              <a:t>→  SIP performance hard to track historically</a:t>
            </a:r>
          </a:p>
        </p:txBody>
      </p:sp>
      <p:sp>
        <p:nvSpPr>
          <p:cNvPr id="10" name="TextBox 9"/>
          <p:cNvSpPr txBox="1"/>
          <p:nvPr/>
        </p:nvSpPr>
        <p:spPr>
          <a:xfrm>
            <a:off x="731520" y="3602736"/>
            <a:ext cx="4937760" cy="329184"/>
          </a:xfrm>
          <a:prstGeom prst="rect">
            <a:avLst/>
          </a:prstGeom>
          <a:noFill/>
        </p:spPr>
        <p:txBody>
          <a:bodyPr wrap="square">
            <a:spAutoFit/>
          </a:bodyPr>
          <a:lstStyle/>
          <a:p>
            <a:pPr algn="l"/>
            <a:r>
              <a:rPr sz="1200" b="0">
                <a:solidFill>
                  <a:srgbClr val="FFFFFF"/>
                </a:solidFill>
              </a:rPr>
              <a:t>→  Portfolio overlap between funds is invisible</a:t>
            </a:r>
          </a:p>
        </p:txBody>
      </p:sp>
      <p:sp>
        <p:nvSpPr>
          <p:cNvPr id="11" name="Rectangle 10"/>
          <p:cNvSpPr/>
          <p:nvPr/>
        </p:nvSpPr>
        <p:spPr>
          <a:xfrm>
            <a:off x="6217920" y="1005840"/>
            <a:ext cx="5394960" cy="292608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097280"/>
            <a:ext cx="5029200" cy="365760"/>
          </a:xfrm>
          <a:prstGeom prst="rect">
            <a:avLst/>
          </a:prstGeom>
          <a:noFill/>
        </p:spPr>
        <p:txBody>
          <a:bodyPr wrap="square">
            <a:spAutoFit/>
          </a:bodyPr>
          <a:lstStyle/>
          <a:p>
            <a:pPr algn="l"/>
            <a:r>
              <a:rPr sz="1400" b="1">
                <a:solidFill>
                  <a:srgbClr val="4FC3F7"/>
                </a:solidFill>
              </a:rPr>
              <a:t>Project Goal</a:t>
            </a:r>
          </a:p>
        </p:txBody>
      </p:sp>
      <p:sp>
        <p:nvSpPr>
          <p:cNvPr id="13" name="TextBox 12"/>
          <p:cNvSpPr txBox="1"/>
          <p:nvPr/>
        </p:nvSpPr>
        <p:spPr>
          <a:xfrm>
            <a:off x="6400800" y="1554480"/>
            <a:ext cx="5029200" cy="1371600"/>
          </a:xfrm>
          <a:prstGeom prst="rect">
            <a:avLst/>
          </a:prstGeom>
          <a:noFill/>
        </p:spPr>
        <p:txBody>
          <a:bodyPr wrap="square">
            <a:spAutoFit/>
          </a:bodyPr>
          <a:lstStyle/>
          <a:p>
            <a:pPr algn="l"/>
            <a:r>
              <a:rPr sz="1200" b="0">
                <a:solidFill>
                  <a:srgbClr val="90A4AE"/>
                </a:solidFill>
              </a:rPr>
              <a:t>Build a structured data pipeline that ingests, cleans,
and organises mutual fund data — enabling fund
comparison, risk profiling, and SIP analysis through
a single codebase.</a:t>
            </a:r>
          </a:p>
        </p:txBody>
      </p:sp>
      <p:sp>
        <p:nvSpPr>
          <p:cNvPr id="14" name="TextBox 13"/>
          <p:cNvSpPr txBox="1"/>
          <p:nvPr/>
        </p:nvSpPr>
        <p:spPr>
          <a:xfrm>
            <a:off x="6400800" y="3200400"/>
            <a:ext cx="5029200" cy="365760"/>
          </a:xfrm>
          <a:prstGeom prst="rect">
            <a:avLst/>
          </a:prstGeom>
          <a:noFill/>
        </p:spPr>
        <p:txBody>
          <a:bodyPr wrap="square">
            <a:spAutoFit/>
          </a:bodyPr>
          <a:lstStyle/>
          <a:p>
            <a:pPr algn="l"/>
            <a:r>
              <a:rPr sz="1100" b="0">
                <a:solidFill>
                  <a:srgbClr val="4FC3F7"/>
                </a:solidFill>
              </a:rPr>
              <a:t>Data Engineering  ·  Financial Analysis  ·  Live API Integration</a:t>
            </a:r>
          </a:p>
        </p:txBody>
      </p:sp>
      <p:sp>
        <p:nvSpPr>
          <p:cNvPr id="15" name="TextBox 14"/>
          <p:cNvSpPr txBox="1"/>
          <p:nvPr/>
        </p:nvSpPr>
        <p:spPr>
          <a:xfrm>
            <a:off x="11247120" y="6492240"/>
            <a:ext cx="731520" cy="274320"/>
          </a:xfrm>
          <a:prstGeom prst="rect">
            <a:avLst/>
          </a:prstGeom>
          <a:noFill/>
        </p:spPr>
        <p:txBody>
          <a:bodyPr wrap="square">
            <a:spAutoFit/>
          </a:bodyPr>
          <a:lstStyle/>
          <a:p>
            <a:pPr algn="r"/>
            <a:r>
              <a:rPr sz="1000" b="0">
                <a:solidFill>
                  <a:srgbClr val="90A4AE"/>
                </a:solidFill>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9144000" cy="548640"/>
          </a:xfrm>
          <a:prstGeom prst="rect">
            <a:avLst/>
          </a:prstGeom>
          <a:noFill/>
        </p:spPr>
        <p:txBody>
          <a:bodyPr wrap="square">
            <a:spAutoFit/>
          </a:bodyPr>
          <a:lstStyle/>
          <a:p>
            <a:pPr algn="l"/>
            <a:r>
              <a:rPr sz="2800" b="1">
                <a:solidFill>
                  <a:srgbClr val="4FC3F7"/>
                </a:solidFill>
              </a:rPr>
              <a:t>Data Pipeline Architecture</a:t>
            </a:r>
          </a:p>
        </p:txBody>
      </p:sp>
      <p:sp>
        <p:nvSpPr>
          <p:cNvPr id="5" name="Rectangle 4"/>
          <p:cNvSpPr/>
          <p:nvPr/>
        </p:nvSpPr>
        <p:spPr>
          <a:xfrm>
            <a:off x="457200" y="1188720"/>
            <a:ext cx="1828800" cy="1005840"/>
          </a:xfrm>
          <a:prstGeom prst="rect">
            <a:avLst/>
          </a:prstGeom>
          <a:solidFill>
            <a:srgbClr val="1E3A5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34440"/>
            <a:ext cx="1737360" cy="914400"/>
          </a:xfrm>
          <a:prstGeom prst="rect">
            <a:avLst/>
          </a:prstGeom>
          <a:noFill/>
        </p:spPr>
        <p:txBody>
          <a:bodyPr wrap="square">
            <a:spAutoFit/>
          </a:bodyPr>
          <a:lstStyle/>
          <a:p>
            <a:pPr algn="ctr"/>
            <a:r>
              <a:rPr sz="1200" b="1">
                <a:solidFill>
                  <a:srgbClr val="FFFFFF"/>
                </a:solidFill>
              </a:rPr>
              <a:t>mfapi.in
(Live API)</a:t>
            </a:r>
          </a:p>
        </p:txBody>
      </p:sp>
      <p:sp>
        <p:nvSpPr>
          <p:cNvPr id="7" name="TextBox 6"/>
          <p:cNvSpPr txBox="1"/>
          <p:nvPr/>
        </p:nvSpPr>
        <p:spPr>
          <a:xfrm>
            <a:off x="2331720" y="1508760"/>
            <a:ext cx="365760" cy="457200"/>
          </a:xfrm>
          <a:prstGeom prst="rect">
            <a:avLst/>
          </a:prstGeom>
          <a:noFill/>
        </p:spPr>
        <p:txBody>
          <a:bodyPr wrap="square">
            <a:spAutoFit/>
          </a:bodyPr>
          <a:lstStyle/>
          <a:p>
            <a:pPr algn="ctr"/>
            <a:r>
              <a:rPr sz="2000" b="1">
                <a:solidFill>
                  <a:srgbClr val="4FC3F7"/>
                </a:solidFill>
              </a:rPr>
              <a:t>→</a:t>
            </a:r>
          </a:p>
        </p:txBody>
      </p:sp>
      <p:sp>
        <p:nvSpPr>
          <p:cNvPr id="8" name="Rectangle 7"/>
          <p:cNvSpPr/>
          <p:nvPr/>
        </p:nvSpPr>
        <p:spPr>
          <a:xfrm>
            <a:off x="2743200" y="1188720"/>
            <a:ext cx="1828800" cy="1005840"/>
          </a:xfrm>
          <a:prstGeom prst="rect">
            <a:avLst/>
          </a:prstGeom>
          <a:solidFill>
            <a:srgbClr val="1E3A5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88920" y="1234440"/>
            <a:ext cx="1737360" cy="914400"/>
          </a:xfrm>
          <a:prstGeom prst="rect">
            <a:avLst/>
          </a:prstGeom>
          <a:noFill/>
        </p:spPr>
        <p:txBody>
          <a:bodyPr wrap="square">
            <a:spAutoFit/>
          </a:bodyPr>
          <a:lstStyle/>
          <a:p>
            <a:pPr algn="ctr"/>
            <a:r>
              <a:rPr sz="1200" b="1">
                <a:solidFill>
                  <a:srgbClr val="FFFFFF"/>
                </a:solidFill>
              </a:rPr>
              <a:t>live_nav_
fetch.py</a:t>
            </a:r>
          </a:p>
        </p:txBody>
      </p:sp>
      <p:sp>
        <p:nvSpPr>
          <p:cNvPr id="10" name="TextBox 9"/>
          <p:cNvSpPr txBox="1"/>
          <p:nvPr/>
        </p:nvSpPr>
        <p:spPr>
          <a:xfrm>
            <a:off x="4617720" y="1508760"/>
            <a:ext cx="365760" cy="457200"/>
          </a:xfrm>
          <a:prstGeom prst="rect">
            <a:avLst/>
          </a:prstGeom>
          <a:noFill/>
        </p:spPr>
        <p:txBody>
          <a:bodyPr wrap="square">
            <a:spAutoFit/>
          </a:bodyPr>
          <a:lstStyle/>
          <a:p>
            <a:pPr algn="ctr"/>
            <a:r>
              <a:rPr sz="2000" b="1">
                <a:solidFill>
                  <a:srgbClr val="4FC3F7"/>
                </a:solidFill>
              </a:rPr>
              <a:t>→</a:t>
            </a:r>
          </a:p>
        </p:txBody>
      </p:sp>
      <p:sp>
        <p:nvSpPr>
          <p:cNvPr id="11" name="Rectangle 10"/>
          <p:cNvSpPr/>
          <p:nvPr/>
        </p:nvSpPr>
        <p:spPr>
          <a:xfrm>
            <a:off x="5029200" y="1188720"/>
            <a:ext cx="1828800" cy="1005840"/>
          </a:xfrm>
          <a:prstGeom prst="rect">
            <a:avLst/>
          </a:prstGeom>
          <a:solidFill>
            <a:srgbClr val="1E3A5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74920" y="1234440"/>
            <a:ext cx="1737360" cy="914400"/>
          </a:xfrm>
          <a:prstGeom prst="rect">
            <a:avLst/>
          </a:prstGeom>
          <a:noFill/>
        </p:spPr>
        <p:txBody>
          <a:bodyPr wrap="square">
            <a:spAutoFit/>
          </a:bodyPr>
          <a:lstStyle/>
          <a:p>
            <a:pPr algn="ctr"/>
            <a:r>
              <a:rPr sz="1200" b="1">
                <a:solidFill>
                  <a:srgbClr val="FFFFFF"/>
                </a:solidFill>
              </a:rPr>
              <a:t>data/raw/
(CSV Store)</a:t>
            </a:r>
          </a:p>
        </p:txBody>
      </p:sp>
      <p:sp>
        <p:nvSpPr>
          <p:cNvPr id="13" name="TextBox 12"/>
          <p:cNvSpPr txBox="1"/>
          <p:nvPr/>
        </p:nvSpPr>
        <p:spPr>
          <a:xfrm>
            <a:off x="6903720" y="1508760"/>
            <a:ext cx="365760" cy="457200"/>
          </a:xfrm>
          <a:prstGeom prst="rect">
            <a:avLst/>
          </a:prstGeom>
          <a:noFill/>
        </p:spPr>
        <p:txBody>
          <a:bodyPr wrap="square">
            <a:spAutoFit/>
          </a:bodyPr>
          <a:lstStyle/>
          <a:p>
            <a:pPr algn="ctr"/>
            <a:r>
              <a:rPr sz="2000" b="1">
                <a:solidFill>
                  <a:srgbClr val="4FC3F7"/>
                </a:solidFill>
              </a:rPr>
              <a:t>→</a:t>
            </a:r>
          </a:p>
        </p:txBody>
      </p:sp>
      <p:sp>
        <p:nvSpPr>
          <p:cNvPr id="14" name="Rectangle 13"/>
          <p:cNvSpPr/>
          <p:nvPr/>
        </p:nvSpPr>
        <p:spPr>
          <a:xfrm>
            <a:off x="7315200" y="1188720"/>
            <a:ext cx="1828800" cy="1005840"/>
          </a:xfrm>
          <a:prstGeom prst="rect">
            <a:avLst/>
          </a:prstGeom>
          <a:solidFill>
            <a:srgbClr val="1E3A5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0920" y="1234440"/>
            <a:ext cx="1737360" cy="914400"/>
          </a:xfrm>
          <a:prstGeom prst="rect">
            <a:avLst/>
          </a:prstGeom>
          <a:noFill/>
        </p:spPr>
        <p:txBody>
          <a:bodyPr wrap="square">
            <a:spAutoFit/>
          </a:bodyPr>
          <a:lstStyle/>
          <a:p>
            <a:pPr algn="ctr"/>
            <a:r>
              <a:rPr sz="1200" b="1">
                <a:solidFill>
                  <a:srgbClr val="FFFFFF"/>
                </a:solidFill>
              </a:rPr>
              <a:t>data_
ingestion.py</a:t>
            </a:r>
          </a:p>
        </p:txBody>
      </p:sp>
      <p:sp>
        <p:nvSpPr>
          <p:cNvPr id="16" name="TextBox 15"/>
          <p:cNvSpPr txBox="1"/>
          <p:nvPr/>
        </p:nvSpPr>
        <p:spPr>
          <a:xfrm>
            <a:off x="9189720" y="1508760"/>
            <a:ext cx="365760" cy="457200"/>
          </a:xfrm>
          <a:prstGeom prst="rect">
            <a:avLst/>
          </a:prstGeom>
          <a:noFill/>
        </p:spPr>
        <p:txBody>
          <a:bodyPr wrap="square">
            <a:spAutoFit/>
          </a:bodyPr>
          <a:lstStyle/>
          <a:p>
            <a:pPr algn="ctr"/>
            <a:r>
              <a:rPr sz="2000" b="1">
                <a:solidFill>
                  <a:srgbClr val="4FC3F7"/>
                </a:solidFill>
              </a:rPr>
              <a:t>→</a:t>
            </a:r>
          </a:p>
        </p:txBody>
      </p:sp>
      <p:sp>
        <p:nvSpPr>
          <p:cNvPr id="17" name="Rectangle 16"/>
          <p:cNvSpPr/>
          <p:nvPr/>
        </p:nvSpPr>
        <p:spPr>
          <a:xfrm>
            <a:off x="9601200" y="1188720"/>
            <a:ext cx="1828800" cy="1005840"/>
          </a:xfrm>
          <a:prstGeom prst="rect">
            <a:avLst/>
          </a:prstGeom>
          <a:solidFill>
            <a:srgbClr val="1E3A5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46920" y="1234440"/>
            <a:ext cx="1737360" cy="914400"/>
          </a:xfrm>
          <a:prstGeom prst="rect">
            <a:avLst/>
          </a:prstGeom>
          <a:noFill/>
        </p:spPr>
        <p:txBody>
          <a:bodyPr wrap="square">
            <a:spAutoFit/>
          </a:bodyPr>
          <a:lstStyle/>
          <a:p>
            <a:pPr algn="ctr"/>
            <a:r>
              <a:rPr sz="1200" b="1">
                <a:solidFill>
                  <a:srgbClr val="FFFFFF"/>
                </a:solidFill>
              </a:rPr>
              <a:t>Analysis
&amp; Reports</a:t>
            </a:r>
          </a:p>
        </p:txBody>
      </p:sp>
      <p:sp>
        <p:nvSpPr>
          <p:cNvPr id="19" name="Rectangle 18"/>
          <p:cNvSpPr/>
          <p:nvPr/>
        </p:nvSpPr>
        <p:spPr>
          <a:xfrm>
            <a:off x="457200" y="2560320"/>
            <a:ext cx="3657600" cy="32004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651760"/>
            <a:ext cx="3291840" cy="365760"/>
          </a:xfrm>
          <a:prstGeom prst="rect">
            <a:avLst/>
          </a:prstGeom>
          <a:noFill/>
        </p:spPr>
        <p:txBody>
          <a:bodyPr wrap="square">
            <a:spAutoFit/>
          </a:bodyPr>
          <a:lstStyle/>
          <a:p>
            <a:pPr algn="l"/>
            <a:r>
              <a:rPr sz="1300" b="1">
                <a:solidFill>
                  <a:srgbClr val="4FC3F7"/>
                </a:solidFill>
              </a:rPr>
              <a:t>Ingestion Layer</a:t>
            </a:r>
          </a:p>
        </p:txBody>
      </p:sp>
      <p:sp>
        <p:nvSpPr>
          <p:cNvPr id="21" name="TextBox 20"/>
          <p:cNvSpPr txBox="1"/>
          <p:nvPr/>
        </p:nvSpPr>
        <p:spPr>
          <a:xfrm>
            <a:off x="640080" y="3108960"/>
            <a:ext cx="3291840" cy="457200"/>
          </a:xfrm>
          <a:prstGeom prst="rect">
            <a:avLst/>
          </a:prstGeom>
          <a:noFill/>
        </p:spPr>
        <p:txBody>
          <a:bodyPr wrap="square">
            <a:spAutoFit/>
          </a:bodyPr>
          <a:lstStyle/>
          <a:p>
            <a:pPr algn="l"/>
            <a:r>
              <a:rPr sz="1100" b="0">
                <a:solidFill>
                  <a:srgbClr val="FFFFFF"/>
                </a:solidFill>
              </a:rPr>
              <a:t>→  6 live NAV feeds via REST API</a:t>
            </a:r>
          </a:p>
        </p:txBody>
      </p:sp>
      <p:sp>
        <p:nvSpPr>
          <p:cNvPr id="22" name="TextBox 21"/>
          <p:cNvSpPr txBox="1"/>
          <p:nvPr/>
        </p:nvSpPr>
        <p:spPr>
          <a:xfrm>
            <a:off x="640080" y="3611880"/>
            <a:ext cx="3291840" cy="457200"/>
          </a:xfrm>
          <a:prstGeom prst="rect">
            <a:avLst/>
          </a:prstGeom>
          <a:noFill/>
        </p:spPr>
        <p:txBody>
          <a:bodyPr wrap="square">
            <a:spAutoFit/>
          </a:bodyPr>
          <a:lstStyle/>
          <a:p>
            <a:pPr algn="l"/>
            <a:r>
              <a:rPr sz="1100" b="0">
                <a:solidFill>
                  <a:srgbClr val="FFFFFF"/>
                </a:solidFill>
              </a:rPr>
              <a:t>→  10 structured CSV datasets</a:t>
            </a:r>
          </a:p>
        </p:txBody>
      </p:sp>
      <p:sp>
        <p:nvSpPr>
          <p:cNvPr id="23" name="TextBox 22"/>
          <p:cNvSpPr txBox="1"/>
          <p:nvPr/>
        </p:nvSpPr>
        <p:spPr>
          <a:xfrm>
            <a:off x="640080" y="4114800"/>
            <a:ext cx="3291840" cy="457200"/>
          </a:xfrm>
          <a:prstGeom prst="rect">
            <a:avLst/>
          </a:prstGeom>
          <a:noFill/>
        </p:spPr>
        <p:txBody>
          <a:bodyPr wrap="square">
            <a:spAutoFit/>
          </a:bodyPr>
          <a:lstStyle/>
          <a:p>
            <a:pPr algn="l"/>
            <a:r>
              <a:rPr sz="1100" b="0">
                <a:solidFill>
                  <a:srgbClr val="FFFFFF"/>
                </a:solidFill>
              </a:rPr>
              <a:t>→  AMFI code validation (100%)</a:t>
            </a:r>
          </a:p>
        </p:txBody>
      </p:sp>
      <p:sp>
        <p:nvSpPr>
          <p:cNvPr id="24" name="TextBox 23"/>
          <p:cNvSpPr txBox="1"/>
          <p:nvPr/>
        </p:nvSpPr>
        <p:spPr>
          <a:xfrm>
            <a:off x="640080" y="4617720"/>
            <a:ext cx="3291840" cy="457200"/>
          </a:xfrm>
          <a:prstGeom prst="rect">
            <a:avLst/>
          </a:prstGeom>
          <a:noFill/>
        </p:spPr>
        <p:txBody>
          <a:bodyPr wrap="square">
            <a:spAutoFit/>
          </a:bodyPr>
          <a:lstStyle/>
          <a:p>
            <a:pPr algn="l"/>
            <a:r>
              <a:rPr sz="1100" b="0">
                <a:solidFill>
                  <a:srgbClr val="FFFFFF"/>
                </a:solidFill>
              </a:rPr>
              <a:t>→  Null / duplicate detection</a:t>
            </a:r>
          </a:p>
        </p:txBody>
      </p:sp>
      <p:sp>
        <p:nvSpPr>
          <p:cNvPr id="25" name="Rectangle 24"/>
          <p:cNvSpPr/>
          <p:nvPr/>
        </p:nvSpPr>
        <p:spPr>
          <a:xfrm>
            <a:off x="4389120" y="2560320"/>
            <a:ext cx="3657600" cy="32004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2651760"/>
            <a:ext cx="3291840" cy="365760"/>
          </a:xfrm>
          <a:prstGeom prst="rect">
            <a:avLst/>
          </a:prstGeom>
          <a:noFill/>
        </p:spPr>
        <p:txBody>
          <a:bodyPr wrap="square">
            <a:spAutoFit/>
          </a:bodyPr>
          <a:lstStyle/>
          <a:p>
            <a:pPr algn="l"/>
            <a:r>
              <a:rPr sz="1300" b="1">
                <a:solidFill>
                  <a:srgbClr val="4FC3F7"/>
                </a:solidFill>
              </a:rPr>
              <a:t>Storage Layout</a:t>
            </a:r>
          </a:p>
        </p:txBody>
      </p:sp>
      <p:sp>
        <p:nvSpPr>
          <p:cNvPr id="27" name="TextBox 26"/>
          <p:cNvSpPr txBox="1"/>
          <p:nvPr/>
        </p:nvSpPr>
        <p:spPr>
          <a:xfrm>
            <a:off x="4572000" y="3108960"/>
            <a:ext cx="3291840" cy="457200"/>
          </a:xfrm>
          <a:prstGeom prst="rect">
            <a:avLst/>
          </a:prstGeom>
          <a:noFill/>
        </p:spPr>
        <p:txBody>
          <a:bodyPr wrap="square">
            <a:spAutoFit/>
          </a:bodyPr>
          <a:lstStyle/>
          <a:p>
            <a:pPr algn="l"/>
            <a:r>
              <a:rPr sz="1100" b="0">
                <a:solidFill>
                  <a:srgbClr val="FFFFFF"/>
                </a:solidFill>
              </a:rPr>
              <a:t>→  data/raw  —  source of truth</a:t>
            </a:r>
          </a:p>
        </p:txBody>
      </p:sp>
      <p:sp>
        <p:nvSpPr>
          <p:cNvPr id="28" name="TextBox 27"/>
          <p:cNvSpPr txBox="1"/>
          <p:nvPr/>
        </p:nvSpPr>
        <p:spPr>
          <a:xfrm>
            <a:off x="4572000" y="3611880"/>
            <a:ext cx="3291840" cy="457200"/>
          </a:xfrm>
          <a:prstGeom prst="rect">
            <a:avLst/>
          </a:prstGeom>
          <a:noFill/>
        </p:spPr>
        <p:txBody>
          <a:bodyPr wrap="square">
            <a:spAutoFit/>
          </a:bodyPr>
          <a:lstStyle/>
          <a:p>
            <a:pPr algn="l"/>
            <a:r>
              <a:rPr sz="1100" b="0">
                <a:solidFill>
                  <a:srgbClr val="FFFFFF"/>
                </a:solidFill>
              </a:rPr>
              <a:t>→  data/processed  —  cleaned</a:t>
            </a:r>
          </a:p>
        </p:txBody>
      </p:sp>
      <p:sp>
        <p:nvSpPr>
          <p:cNvPr id="29" name="TextBox 28"/>
          <p:cNvSpPr txBox="1"/>
          <p:nvPr/>
        </p:nvSpPr>
        <p:spPr>
          <a:xfrm>
            <a:off x="4572000" y="4114800"/>
            <a:ext cx="3291840" cy="457200"/>
          </a:xfrm>
          <a:prstGeom prst="rect">
            <a:avLst/>
          </a:prstGeom>
          <a:noFill/>
        </p:spPr>
        <p:txBody>
          <a:bodyPr wrap="square">
            <a:spAutoFit/>
          </a:bodyPr>
          <a:lstStyle/>
          <a:p>
            <a:pPr algn="l"/>
            <a:r>
              <a:rPr sz="1100" b="0">
                <a:solidFill>
                  <a:srgbClr val="FFFFFF"/>
                </a:solidFill>
              </a:rPr>
              <a:t>→  sql/  —  analytical queries</a:t>
            </a:r>
          </a:p>
        </p:txBody>
      </p:sp>
      <p:sp>
        <p:nvSpPr>
          <p:cNvPr id="30" name="TextBox 29"/>
          <p:cNvSpPr txBox="1"/>
          <p:nvPr/>
        </p:nvSpPr>
        <p:spPr>
          <a:xfrm>
            <a:off x="4572000" y="4617720"/>
            <a:ext cx="3291840" cy="457200"/>
          </a:xfrm>
          <a:prstGeom prst="rect">
            <a:avLst/>
          </a:prstGeom>
          <a:noFill/>
        </p:spPr>
        <p:txBody>
          <a:bodyPr wrap="square">
            <a:spAutoFit/>
          </a:bodyPr>
          <a:lstStyle/>
          <a:p>
            <a:pPr algn="l"/>
            <a:r>
              <a:rPr sz="1100" b="0">
                <a:solidFill>
                  <a:srgbClr val="FFFFFF"/>
                </a:solidFill>
              </a:rPr>
              <a:t>→  dashboard/  —  viz exports</a:t>
            </a:r>
          </a:p>
        </p:txBody>
      </p:sp>
      <p:sp>
        <p:nvSpPr>
          <p:cNvPr id="31" name="Rectangle 30"/>
          <p:cNvSpPr/>
          <p:nvPr/>
        </p:nvSpPr>
        <p:spPr>
          <a:xfrm>
            <a:off x="8321040" y="2560320"/>
            <a:ext cx="3657600" cy="32004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03919" y="2651760"/>
            <a:ext cx="3291840" cy="365760"/>
          </a:xfrm>
          <a:prstGeom prst="rect">
            <a:avLst/>
          </a:prstGeom>
          <a:noFill/>
        </p:spPr>
        <p:txBody>
          <a:bodyPr wrap="square">
            <a:spAutoFit/>
          </a:bodyPr>
          <a:lstStyle/>
          <a:p>
            <a:pPr algn="l"/>
            <a:r>
              <a:rPr sz="1300" b="1">
                <a:solidFill>
                  <a:srgbClr val="4FC3F7"/>
                </a:solidFill>
              </a:rPr>
              <a:t>Analysis Layer</a:t>
            </a:r>
          </a:p>
        </p:txBody>
      </p:sp>
      <p:sp>
        <p:nvSpPr>
          <p:cNvPr id="33" name="TextBox 32"/>
          <p:cNvSpPr txBox="1"/>
          <p:nvPr/>
        </p:nvSpPr>
        <p:spPr>
          <a:xfrm>
            <a:off x="8503919" y="3108960"/>
            <a:ext cx="3291840" cy="457200"/>
          </a:xfrm>
          <a:prstGeom prst="rect">
            <a:avLst/>
          </a:prstGeom>
          <a:noFill/>
        </p:spPr>
        <p:txBody>
          <a:bodyPr wrap="square">
            <a:spAutoFit/>
          </a:bodyPr>
          <a:lstStyle/>
          <a:p>
            <a:pPr algn="l"/>
            <a:r>
              <a:rPr sz="1100" b="0">
                <a:solidFill>
                  <a:srgbClr val="FFFFFF"/>
                </a:solidFill>
              </a:rPr>
              <a:t>→  notebooks/  —  EDA</a:t>
            </a:r>
          </a:p>
        </p:txBody>
      </p:sp>
      <p:sp>
        <p:nvSpPr>
          <p:cNvPr id="34" name="TextBox 33"/>
          <p:cNvSpPr txBox="1"/>
          <p:nvPr/>
        </p:nvSpPr>
        <p:spPr>
          <a:xfrm>
            <a:off x="8503919" y="3611880"/>
            <a:ext cx="3291840" cy="457200"/>
          </a:xfrm>
          <a:prstGeom prst="rect">
            <a:avLst/>
          </a:prstGeom>
          <a:noFill/>
        </p:spPr>
        <p:txBody>
          <a:bodyPr wrap="square">
            <a:spAutoFit/>
          </a:bodyPr>
          <a:lstStyle/>
          <a:p>
            <a:pPr algn="l"/>
            <a:r>
              <a:rPr sz="1100" b="0">
                <a:solidFill>
                  <a:srgbClr val="FFFFFF"/>
                </a:solidFill>
              </a:rPr>
              <a:t>→  matplotlib / seaborn / plotly</a:t>
            </a:r>
          </a:p>
        </p:txBody>
      </p:sp>
      <p:sp>
        <p:nvSpPr>
          <p:cNvPr id="35" name="TextBox 34"/>
          <p:cNvSpPr txBox="1"/>
          <p:nvPr/>
        </p:nvSpPr>
        <p:spPr>
          <a:xfrm>
            <a:off x="8503919" y="4114800"/>
            <a:ext cx="3291840" cy="457200"/>
          </a:xfrm>
          <a:prstGeom prst="rect">
            <a:avLst/>
          </a:prstGeom>
          <a:noFill/>
        </p:spPr>
        <p:txBody>
          <a:bodyPr wrap="square">
            <a:spAutoFit/>
          </a:bodyPr>
          <a:lstStyle/>
          <a:p>
            <a:pPr algn="l"/>
            <a:r>
              <a:rPr sz="1100" b="0">
                <a:solidFill>
                  <a:srgbClr val="FFFFFF"/>
                </a:solidFill>
              </a:rPr>
              <a:t>→  scipy  —  statistical tests</a:t>
            </a:r>
          </a:p>
        </p:txBody>
      </p:sp>
      <p:sp>
        <p:nvSpPr>
          <p:cNvPr id="36" name="TextBox 35"/>
          <p:cNvSpPr txBox="1"/>
          <p:nvPr/>
        </p:nvSpPr>
        <p:spPr>
          <a:xfrm>
            <a:off x="8503919" y="4617720"/>
            <a:ext cx="3291840" cy="457200"/>
          </a:xfrm>
          <a:prstGeom prst="rect">
            <a:avLst/>
          </a:prstGeom>
          <a:noFill/>
        </p:spPr>
        <p:txBody>
          <a:bodyPr wrap="square">
            <a:spAutoFit/>
          </a:bodyPr>
          <a:lstStyle/>
          <a:p>
            <a:pPr algn="l"/>
            <a:r>
              <a:rPr sz="1100" b="0">
                <a:solidFill>
                  <a:srgbClr val="FFFFFF"/>
                </a:solidFill>
              </a:rPr>
              <a:t>→  SQLAlchemy  —  DB queries</a:t>
            </a:r>
          </a:p>
        </p:txBody>
      </p:sp>
      <p:sp>
        <p:nvSpPr>
          <p:cNvPr id="37" name="TextBox 36"/>
          <p:cNvSpPr txBox="1"/>
          <p:nvPr/>
        </p:nvSpPr>
        <p:spPr>
          <a:xfrm>
            <a:off x="11247120" y="6492240"/>
            <a:ext cx="731520" cy="274320"/>
          </a:xfrm>
          <a:prstGeom prst="rect">
            <a:avLst/>
          </a:prstGeom>
          <a:noFill/>
        </p:spPr>
        <p:txBody>
          <a:bodyPr wrap="square">
            <a:spAutoFit/>
          </a:bodyPr>
          <a:lstStyle/>
          <a:p>
            <a:pPr algn="r"/>
            <a:r>
              <a:rPr sz="1000" b="0">
                <a:solidFill>
                  <a:srgbClr val="90A4AE"/>
                </a:solidFill>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9144000" cy="548640"/>
          </a:xfrm>
          <a:prstGeom prst="rect">
            <a:avLst/>
          </a:prstGeom>
          <a:noFill/>
        </p:spPr>
        <p:txBody>
          <a:bodyPr wrap="square">
            <a:spAutoFit/>
          </a:bodyPr>
          <a:lstStyle/>
          <a:p>
            <a:pPr algn="l"/>
            <a:r>
              <a:rPr sz="2800" b="1">
                <a:solidFill>
                  <a:srgbClr val="4FC3F7"/>
                </a:solidFill>
              </a:rPr>
              <a:t>Datasets Overview</a:t>
            </a:r>
          </a:p>
        </p:txBody>
      </p:sp>
      <p:sp>
        <p:nvSpPr>
          <p:cNvPr id="5" name="Rectangle 4"/>
          <p:cNvSpPr/>
          <p:nvPr/>
        </p:nvSpPr>
        <p:spPr>
          <a:xfrm>
            <a:off x="365760" y="914400"/>
            <a:ext cx="11430000" cy="384048"/>
          </a:xfrm>
          <a:prstGeom prst="rect">
            <a:avLst/>
          </a:prstGeom>
          <a:solidFill>
            <a:srgbClr val="1E3A5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932688"/>
            <a:ext cx="2011680" cy="347472"/>
          </a:xfrm>
          <a:prstGeom prst="rect">
            <a:avLst/>
          </a:prstGeom>
          <a:noFill/>
        </p:spPr>
        <p:txBody>
          <a:bodyPr wrap="square">
            <a:spAutoFit/>
          </a:bodyPr>
          <a:lstStyle/>
          <a:p>
            <a:pPr algn="l"/>
            <a:r>
              <a:rPr sz="1100" b="1">
                <a:solidFill>
                  <a:srgbClr val="4FC3F7"/>
                </a:solidFill>
              </a:rPr>
              <a:t>Dataset</a:t>
            </a:r>
          </a:p>
        </p:txBody>
      </p:sp>
      <p:sp>
        <p:nvSpPr>
          <p:cNvPr id="7" name="TextBox 6"/>
          <p:cNvSpPr txBox="1"/>
          <p:nvPr/>
        </p:nvSpPr>
        <p:spPr>
          <a:xfrm>
            <a:off x="2423160" y="932688"/>
            <a:ext cx="640080" cy="347472"/>
          </a:xfrm>
          <a:prstGeom prst="rect">
            <a:avLst/>
          </a:prstGeom>
          <a:noFill/>
        </p:spPr>
        <p:txBody>
          <a:bodyPr wrap="square">
            <a:spAutoFit/>
          </a:bodyPr>
          <a:lstStyle/>
          <a:p>
            <a:pPr algn="l"/>
            <a:r>
              <a:rPr sz="1100" b="1">
                <a:solidFill>
                  <a:srgbClr val="4FC3F7"/>
                </a:solidFill>
              </a:rPr>
              <a:t>Rows</a:t>
            </a:r>
          </a:p>
        </p:txBody>
      </p:sp>
      <p:sp>
        <p:nvSpPr>
          <p:cNvPr id="8" name="TextBox 7"/>
          <p:cNvSpPr txBox="1"/>
          <p:nvPr/>
        </p:nvSpPr>
        <p:spPr>
          <a:xfrm>
            <a:off x="3090672" y="932688"/>
            <a:ext cx="5943600" cy="347472"/>
          </a:xfrm>
          <a:prstGeom prst="rect">
            <a:avLst/>
          </a:prstGeom>
          <a:noFill/>
        </p:spPr>
        <p:txBody>
          <a:bodyPr wrap="square">
            <a:spAutoFit/>
          </a:bodyPr>
          <a:lstStyle/>
          <a:p>
            <a:pPr algn="l"/>
            <a:r>
              <a:rPr sz="1100" b="1">
                <a:solidFill>
                  <a:srgbClr val="4FC3F7"/>
                </a:solidFill>
              </a:rPr>
              <a:t>Key Columns</a:t>
            </a:r>
          </a:p>
        </p:txBody>
      </p:sp>
      <p:sp>
        <p:nvSpPr>
          <p:cNvPr id="9" name="TextBox 8"/>
          <p:cNvSpPr txBox="1"/>
          <p:nvPr/>
        </p:nvSpPr>
        <p:spPr>
          <a:xfrm>
            <a:off x="9052560" y="932688"/>
            <a:ext cx="1463040" cy="347472"/>
          </a:xfrm>
          <a:prstGeom prst="rect">
            <a:avLst/>
          </a:prstGeom>
          <a:noFill/>
        </p:spPr>
        <p:txBody>
          <a:bodyPr wrap="square">
            <a:spAutoFit/>
          </a:bodyPr>
          <a:lstStyle/>
          <a:p>
            <a:pPr algn="l"/>
            <a:r>
              <a:rPr sz="1100" b="1">
                <a:solidFill>
                  <a:srgbClr val="4FC3F7"/>
                </a:solidFill>
              </a:rPr>
              <a:t>Type</a:t>
            </a:r>
          </a:p>
        </p:txBody>
      </p:sp>
      <p:sp>
        <p:nvSpPr>
          <p:cNvPr id="10" name="Rectangle 9"/>
          <p:cNvSpPr/>
          <p:nvPr/>
        </p:nvSpPr>
        <p:spPr>
          <a:xfrm>
            <a:off x="365760" y="1325880"/>
            <a:ext cx="11430000" cy="457200"/>
          </a:xfrm>
          <a:prstGeom prst="rect">
            <a:avLst/>
          </a:prstGeom>
          <a:solidFill>
            <a:srgbClr val="12151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344168"/>
            <a:ext cx="2011680" cy="438912"/>
          </a:xfrm>
          <a:prstGeom prst="rect">
            <a:avLst/>
          </a:prstGeom>
          <a:noFill/>
        </p:spPr>
        <p:txBody>
          <a:bodyPr wrap="square">
            <a:spAutoFit/>
          </a:bodyPr>
          <a:lstStyle/>
          <a:p>
            <a:pPr algn="l"/>
            <a:r>
              <a:rPr sz="1000" b="0">
                <a:solidFill>
                  <a:srgbClr val="FFFFFF"/>
                </a:solidFill>
              </a:rPr>
              <a:t>fund_master</a:t>
            </a:r>
          </a:p>
        </p:txBody>
      </p:sp>
      <p:sp>
        <p:nvSpPr>
          <p:cNvPr id="12" name="TextBox 11"/>
          <p:cNvSpPr txBox="1"/>
          <p:nvPr/>
        </p:nvSpPr>
        <p:spPr>
          <a:xfrm>
            <a:off x="2423160" y="1344168"/>
            <a:ext cx="640080" cy="438912"/>
          </a:xfrm>
          <a:prstGeom prst="rect">
            <a:avLst/>
          </a:prstGeom>
          <a:noFill/>
        </p:spPr>
        <p:txBody>
          <a:bodyPr wrap="square">
            <a:spAutoFit/>
          </a:bodyPr>
          <a:lstStyle/>
          <a:p>
            <a:pPr algn="l"/>
            <a:r>
              <a:rPr sz="1000" b="0">
                <a:solidFill>
                  <a:srgbClr val="FFFFFF"/>
                </a:solidFill>
              </a:rPr>
              <a:t>20</a:t>
            </a:r>
          </a:p>
        </p:txBody>
      </p:sp>
      <p:sp>
        <p:nvSpPr>
          <p:cNvPr id="13" name="TextBox 12"/>
          <p:cNvSpPr txBox="1"/>
          <p:nvPr/>
        </p:nvSpPr>
        <p:spPr>
          <a:xfrm>
            <a:off x="3090672" y="1344168"/>
            <a:ext cx="5943600" cy="438912"/>
          </a:xfrm>
          <a:prstGeom prst="rect">
            <a:avLst/>
          </a:prstGeom>
          <a:noFill/>
        </p:spPr>
        <p:txBody>
          <a:bodyPr wrap="square">
            <a:spAutoFit/>
          </a:bodyPr>
          <a:lstStyle/>
          <a:p>
            <a:pPr algn="l"/>
            <a:r>
              <a:rPr sz="1000" b="0">
                <a:solidFill>
                  <a:srgbClr val="FFFFFF"/>
                </a:solidFill>
              </a:rPr>
              <a:t>scheme_code, fund_house, category, risk_grade</a:t>
            </a:r>
          </a:p>
        </p:txBody>
      </p:sp>
      <p:sp>
        <p:nvSpPr>
          <p:cNvPr id="14" name="TextBox 13"/>
          <p:cNvSpPr txBox="1"/>
          <p:nvPr/>
        </p:nvSpPr>
        <p:spPr>
          <a:xfrm>
            <a:off x="9052560" y="1344168"/>
            <a:ext cx="1463040" cy="438912"/>
          </a:xfrm>
          <a:prstGeom prst="rect">
            <a:avLst/>
          </a:prstGeom>
          <a:noFill/>
        </p:spPr>
        <p:txBody>
          <a:bodyPr wrap="square">
            <a:spAutoFit/>
          </a:bodyPr>
          <a:lstStyle/>
          <a:p>
            <a:pPr algn="l"/>
            <a:r>
              <a:rPr sz="1000" b="0">
                <a:solidFill>
                  <a:srgbClr val="4FC3F7"/>
                </a:solidFill>
              </a:rPr>
              <a:t>Master</a:t>
            </a:r>
          </a:p>
        </p:txBody>
      </p:sp>
      <p:sp>
        <p:nvSpPr>
          <p:cNvPr id="15" name="Rectangle 14"/>
          <p:cNvSpPr/>
          <p:nvPr/>
        </p:nvSpPr>
        <p:spPr>
          <a:xfrm>
            <a:off x="365760" y="1801368"/>
            <a:ext cx="11430000" cy="4572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1819656"/>
            <a:ext cx="2011680" cy="438912"/>
          </a:xfrm>
          <a:prstGeom prst="rect">
            <a:avLst/>
          </a:prstGeom>
          <a:noFill/>
        </p:spPr>
        <p:txBody>
          <a:bodyPr wrap="square">
            <a:spAutoFit/>
          </a:bodyPr>
          <a:lstStyle/>
          <a:p>
            <a:pPr algn="l"/>
            <a:r>
              <a:rPr sz="1000" b="0">
                <a:solidFill>
                  <a:srgbClr val="FFFFFF"/>
                </a:solidFill>
              </a:rPr>
              <a:t>nav_history</a:t>
            </a:r>
          </a:p>
        </p:txBody>
      </p:sp>
      <p:sp>
        <p:nvSpPr>
          <p:cNvPr id="17" name="TextBox 16"/>
          <p:cNvSpPr txBox="1"/>
          <p:nvPr/>
        </p:nvSpPr>
        <p:spPr>
          <a:xfrm>
            <a:off x="2423160" y="1819656"/>
            <a:ext cx="640080" cy="438912"/>
          </a:xfrm>
          <a:prstGeom prst="rect">
            <a:avLst/>
          </a:prstGeom>
          <a:noFill/>
        </p:spPr>
        <p:txBody>
          <a:bodyPr wrap="square">
            <a:spAutoFit/>
          </a:bodyPr>
          <a:lstStyle/>
          <a:p>
            <a:pPr algn="l"/>
            <a:r>
              <a:rPr sz="1000" b="0">
                <a:solidFill>
                  <a:srgbClr val="FFFFFF"/>
                </a:solidFill>
              </a:rPr>
              <a:t>10,000</a:t>
            </a:r>
          </a:p>
        </p:txBody>
      </p:sp>
      <p:sp>
        <p:nvSpPr>
          <p:cNvPr id="18" name="TextBox 17"/>
          <p:cNvSpPr txBox="1"/>
          <p:nvPr/>
        </p:nvSpPr>
        <p:spPr>
          <a:xfrm>
            <a:off x="3090672" y="1819656"/>
            <a:ext cx="5943600" cy="438912"/>
          </a:xfrm>
          <a:prstGeom prst="rect">
            <a:avLst/>
          </a:prstGeom>
          <a:noFill/>
        </p:spPr>
        <p:txBody>
          <a:bodyPr wrap="square">
            <a:spAutoFit/>
          </a:bodyPr>
          <a:lstStyle/>
          <a:p>
            <a:pPr algn="l"/>
            <a:r>
              <a:rPr sz="1000" b="0">
                <a:solidFill>
                  <a:srgbClr val="FFFFFF"/>
                </a:solidFill>
              </a:rPr>
              <a:t>scheme_code, date, nav</a:t>
            </a:r>
          </a:p>
        </p:txBody>
      </p:sp>
      <p:sp>
        <p:nvSpPr>
          <p:cNvPr id="19" name="TextBox 18"/>
          <p:cNvSpPr txBox="1"/>
          <p:nvPr/>
        </p:nvSpPr>
        <p:spPr>
          <a:xfrm>
            <a:off x="9052560" y="1819656"/>
            <a:ext cx="1463040" cy="438912"/>
          </a:xfrm>
          <a:prstGeom prst="rect">
            <a:avLst/>
          </a:prstGeom>
          <a:noFill/>
        </p:spPr>
        <p:txBody>
          <a:bodyPr wrap="square">
            <a:spAutoFit/>
          </a:bodyPr>
          <a:lstStyle/>
          <a:p>
            <a:pPr algn="l"/>
            <a:r>
              <a:rPr sz="1000" b="0">
                <a:solidFill>
                  <a:srgbClr val="4FC3F7"/>
                </a:solidFill>
              </a:rPr>
              <a:t>Time Series</a:t>
            </a:r>
          </a:p>
        </p:txBody>
      </p:sp>
      <p:sp>
        <p:nvSpPr>
          <p:cNvPr id="20" name="Rectangle 19"/>
          <p:cNvSpPr/>
          <p:nvPr/>
        </p:nvSpPr>
        <p:spPr>
          <a:xfrm>
            <a:off x="365760" y="2276856"/>
            <a:ext cx="11430000" cy="457200"/>
          </a:xfrm>
          <a:prstGeom prst="rect">
            <a:avLst/>
          </a:prstGeom>
          <a:solidFill>
            <a:srgbClr val="12151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2295144"/>
            <a:ext cx="2011680" cy="438912"/>
          </a:xfrm>
          <a:prstGeom prst="rect">
            <a:avLst/>
          </a:prstGeom>
          <a:noFill/>
        </p:spPr>
        <p:txBody>
          <a:bodyPr wrap="square">
            <a:spAutoFit/>
          </a:bodyPr>
          <a:lstStyle/>
          <a:p>
            <a:pPr algn="l"/>
            <a:r>
              <a:rPr sz="1000" b="0">
                <a:solidFill>
                  <a:srgbClr val="FFFFFF"/>
                </a:solidFill>
              </a:rPr>
              <a:t>portfolio_holdings</a:t>
            </a:r>
          </a:p>
        </p:txBody>
      </p:sp>
      <p:sp>
        <p:nvSpPr>
          <p:cNvPr id="22" name="TextBox 21"/>
          <p:cNvSpPr txBox="1"/>
          <p:nvPr/>
        </p:nvSpPr>
        <p:spPr>
          <a:xfrm>
            <a:off x="2423160" y="2295144"/>
            <a:ext cx="640080" cy="438912"/>
          </a:xfrm>
          <a:prstGeom prst="rect">
            <a:avLst/>
          </a:prstGeom>
          <a:noFill/>
        </p:spPr>
        <p:txBody>
          <a:bodyPr wrap="square">
            <a:spAutoFit/>
          </a:bodyPr>
          <a:lstStyle/>
          <a:p>
            <a:pPr algn="l"/>
            <a:r>
              <a:rPr sz="1000" b="0">
                <a:solidFill>
                  <a:srgbClr val="FFFFFF"/>
                </a:solidFill>
              </a:rPr>
              <a:t>200</a:t>
            </a:r>
          </a:p>
        </p:txBody>
      </p:sp>
      <p:sp>
        <p:nvSpPr>
          <p:cNvPr id="23" name="TextBox 22"/>
          <p:cNvSpPr txBox="1"/>
          <p:nvPr/>
        </p:nvSpPr>
        <p:spPr>
          <a:xfrm>
            <a:off x="3090672" y="2295144"/>
            <a:ext cx="5943600" cy="438912"/>
          </a:xfrm>
          <a:prstGeom prst="rect">
            <a:avLst/>
          </a:prstGeom>
          <a:noFill/>
        </p:spPr>
        <p:txBody>
          <a:bodyPr wrap="square">
            <a:spAutoFit/>
          </a:bodyPr>
          <a:lstStyle/>
          <a:p>
            <a:pPr algn="l"/>
            <a:r>
              <a:rPr sz="1000" b="0">
                <a:solidFill>
                  <a:srgbClr val="FFFFFF"/>
                </a:solidFill>
              </a:rPr>
              <a:t>scheme_code, stock, weight_pct, sector</a:t>
            </a:r>
          </a:p>
        </p:txBody>
      </p:sp>
      <p:sp>
        <p:nvSpPr>
          <p:cNvPr id="24" name="TextBox 23"/>
          <p:cNvSpPr txBox="1"/>
          <p:nvPr/>
        </p:nvSpPr>
        <p:spPr>
          <a:xfrm>
            <a:off x="9052560" y="2295144"/>
            <a:ext cx="1463040" cy="438912"/>
          </a:xfrm>
          <a:prstGeom prst="rect">
            <a:avLst/>
          </a:prstGeom>
          <a:noFill/>
        </p:spPr>
        <p:txBody>
          <a:bodyPr wrap="square">
            <a:spAutoFit/>
          </a:bodyPr>
          <a:lstStyle/>
          <a:p>
            <a:pPr algn="l"/>
            <a:r>
              <a:rPr sz="1000" b="0">
                <a:solidFill>
                  <a:srgbClr val="4FC3F7"/>
                </a:solidFill>
              </a:rPr>
              <a:t>Holdings</a:t>
            </a:r>
          </a:p>
        </p:txBody>
      </p:sp>
      <p:sp>
        <p:nvSpPr>
          <p:cNvPr id="25" name="Rectangle 24"/>
          <p:cNvSpPr/>
          <p:nvPr/>
        </p:nvSpPr>
        <p:spPr>
          <a:xfrm>
            <a:off x="365760" y="2752344"/>
            <a:ext cx="11430000" cy="4572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2770632"/>
            <a:ext cx="2011680" cy="438912"/>
          </a:xfrm>
          <a:prstGeom prst="rect">
            <a:avLst/>
          </a:prstGeom>
          <a:noFill/>
        </p:spPr>
        <p:txBody>
          <a:bodyPr wrap="square">
            <a:spAutoFit/>
          </a:bodyPr>
          <a:lstStyle/>
          <a:p>
            <a:pPr algn="l"/>
            <a:r>
              <a:rPr sz="1000" b="0">
                <a:solidFill>
                  <a:srgbClr val="FFFFFF"/>
                </a:solidFill>
              </a:rPr>
              <a:t>sip_data</a:t>
            </a:r>
          </a:p>
        </p:txBody>
      </p:sp>
      <p:sp>
        <p:nvSpPr>
          <p:cNvPr id="27" name="TextBox 26"/>
          <p:cNvSpPr txBox="1"/>
          <p:nvPr/>
        </p:nvSpPr>
        <p:spPr>
          <a:xfrm>
            <a:off x="2423160" y="2770632"/>
            <a:ext cx="640080" cy="438912"/>
          </a:xfrm>
          <a:prstGeom prst="rect">
            <a:avLst/>
          </a:prstGeom>
          <a:noFill/>
        </p:spPr>
        <p:txBody>
          <a:bodyPr wrap="square">
            <a:spAutoFit/>
          </a:bodyPr>
          <a:lstStyle/>
          <a:p>
            <a:pPr algn="l"/>
            <a:r>
              <a:rPr sz="1000" b="0">
                <a:solidFill>
                  <a:srgbClr val="FFFFFF"/>
                </a:solidFill>
              </a:rPr>
              <a:t>600</a:t>
            </a:r>
          </a:p>
        </p:txBody>
      </p:sp>
      <p:sp>
        <p:nvSpPr>
          <p:cNvPr id="28" name="TextBox 27"/>
          <p:cNvSpPr txBox="1"/>
          <p:nvPr/>
        </p:nvSpPr>
        <p:spPr>
          <a:xfrm>
            <a:off x="3090672" y="2770632"/>
            <a:ext cx="5943600" cy="438912"/>
          </a:xfrm>
          <a:prstGeom prst="rect">
            <a:avLst/>
          </a:prstGeom>
          <a:noFill/>
        </p:spPr>
        <p:txBody>
          <a:bodyPr wrap="square">
            <a:spAutoFit/>
          </a:bodyPr>
          <a:lstStyle/>
          <a:p>
            <a:pPr algn="l"/>
            <a:r>
              <a:rPr sz="1000" b="0">
                <a:solidFill>
                  <a:srgbClr val="FFFFFF"/>
                </a:solidFill>
              </a:rPr>
              <a:t>scheme_code, date, amount, units, nav</a:t>
            </a:r>
          </a:p>
        </p:txBody>
      </p:sp>
      <p:sp>
        <p:nvSpPr>
          <p:cNvPr id="29" name="TextBox 28"/>
          <p:cNvSpPr txBox="1"/>
          <p:nvPr/>
        </p:nvSpPr>
        <p:spPr>
          <a:xfrm>
            <a:off x="9052560" y="2770632"/>
            <a:ext cx="1463040" cy="438912"/>
          </a:xfrm>
          <a:prstGeom prst="rect">
            <a:avLst/>
          </a:prstGeom>
          <a:noFill/>
        </p:spPr>
        <p:txBody>
          <a:bodyPr wrap="square">
            <a:spAutoFit/>
          </a:bodyPr>
          <a:lstStyle/>
          <a:p>
            <a:pPr algn="l"/>
            <a:r>
              <a:rPr sz="1000" b="0">
                <a:solidFill>
                  <a:srgbClr val="4FC3F7"/>
                </a:solidFill>
              </a:rPr>
              <a:t>Transactional</a:t>
            </a:r>
          </a:p>
        </p:txBody>
      </p:sp>
      <p:sp>
        <p:nvSpPr>
          <p:cNvPr id="30" name="Rectangle 29"/>
          <p:cNvSpPr/>
          <p:nvPr/>
        </p:nvSpPr>
        <p:spPr>
          <a:xfrm>
            <a:off x="365760" y="3227832"/>
            <a:ext cx="11430000" cy="457200"/>
          </a:xfrm>
          <a:prstGeom prst="rect">
            <a:avLst/>
          </a:prstGeom>
          <a:solidFill>
            <a:srgbClr val="12151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3246120"/>
            <a:ext cx="2011680" cy="438912"/>
          </a:xfrm>
          <a:prstGeom prst="rect">
            <a:avLst/>
          </a:prstGeom>
          <a:noFill/>
        </p:spPr>
        <p:txBody>
          <a:bodyPr wrap="square">
            <a:spAutoFit/>
          </a:bodyPr>
          <a:lstStyle/>
          <a:p>
            <a:pPr algn="l"/>
            <a:r>
              <a:rPr sz="1000" b="0">
                <a:solidFill>
                  <a:srgbClr val="FFFFFF"/>
                </a:solidFill>
              </a:rPr>
              <a:t>returns_data</a:t>
            </a:r>
          </a:p>
        </p:txBody>
      </p:sp>
      <p:sp>
        <p:nvSpPr>
          <p:cNvPr id="32" name="TextBox 31"/>
          <p:cNvSpPr txBox="1"/>
          <p:nvPr/>
        </p:nvSpPr>
        <p:spPr>
          <a:xfrm>
            <a:off x="2423160" y="3246120"/>
            <a:ext cx="640080" cy="438912"/>
          </a:xfrm>
          <a:prstGeom prst="rect">
            <a:avLst/>
          </a:prstGeom>
          <a:noFill/>
        </p:spPr>
        <p:txBody>
          <a:bodyPr wrap="square">
            <a:spAutoFit/>
          </a:bodyPr>
          <a:lstStyle/>
          <a:p>
            <a:pPr algn="l"/>
            <a:r>
              <a:rPr sz="1000" b="0">
                <a:solidFill>
                  <a:srgbClr val="FFFFFF"/>
                </a:solidFill>
              </a:rPr>
              <a:t>20</a:t>
            </a:r>
          </a:p>
        </p:txBody>
      </p:sp>
      <p:sp>
        <p:nvSpPr>
          <p:cNvPr id="33" name="TextBox 32"/>
          <p:cNvSpPr txBox="1"/>
          <p:nvPr/>
        </p:nvSpPr>
        <p:spPr>
          <a:xfrm>
            <a:off x="3090672" y="3246120"/>
            <a:ext cx="5943600" cy="438912"/>
          </a:xfrm>
          <a:prstGeom prst="rect">
            <a:avLst/>
          </a:prstGeom>
          <a:noFill/>
        </p:spPr>
        <p:txBody>
          <a:bodyPr wrap="square">
            <a:spAutoFit/>
          </a:bodyPr>
          <a:lstStyle/>
          <a:p>
            <a:pPr algn="l"/>
            <a:r>
              <a:rPr sz="1000" b="0">
                <a:solidFill>
                  <a:srgbClr val="FFFFFF"/>
                </a:solidFill>
              </a:rPr>
              <a:t>ret_1m, ret_3m, ret_1y, ret_3y, ret_5y</a:t>
            </a:r>
          </a:p>
        </p:txBody>
      </p:sp>
      <p:sp>
        <p:nvSpPr>
          <p:cNvPr id="34" name="TextBox 33"/>
          <p:cNvSpPr txBox="1"/>
          <p:nvPr/>
        </p:nvSpPr>
        <p:spPr>
          <a:xfrm>
            <a:off x="9052560" y="3246120"/>
            <a:ext cx="1463040" cy="438912"/>
          </a:xfrm>
          <a:prstGeom prst="rect">
            <a:avLst/>
          </a:prstGeom>
          <a:noFill/>
        </p:spPr>
        <p:txBody>
          <a:bodyPr wrap="square">
            <a:spAutoFit/>
          </a:bodyPr>
          <a:lstStyle/>
          <a:p>
            <a:pPr algn="l"/>
            <a:r>
              <a:rPr sz="1000" b="0">
                <a:solidFill>
                  <a:srgbClr val="4FC3F7"/>
                </a:solidFill>
              </a:rPr>
              <a:t>Derived</a:t>
            </a:r>
          </a:p>
        </p:txBody>
      </p:sp>
      <p:sp>
        <p:nvSpPr>
          <p:cNvPr id="35" name="Rectangle 34"/>
          <p:cNvSpPr/>
          <p:nvPr/>
        </p:nvSpPr>
        <p:spPr>
          <a:xfrm>
            <a:off x="365760" y="3703320"/>
            <a:ext cx="11430000" cy="4572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3721608"/>
            <a:ext cx="2011680" cy="438912"/>
          </a:xfrm>
          <a:prstGeom prst="rect">
            <a:avLst/>
          </a:prstGeom>
          <a:noFill/>
        </p:spPr>
        <p:txBody>
          <a:bodyPr wrap="square">
            <a:spAutoFit/>
          </a:bodyPr>
          <a:lstStyle/>
          <a:p>
            <a:pPr algn="l"/>
            <a:r>
              <a:rPr sz="1000" b="0">
                <a:solidFill>
                  <a:srgbClr val="FFFFFF"/>
                </a:solidFill>
              </a:rPr>
              <a:t>aum_data</a:t>
            </a:r>
          </a:p>
        </p:txBody>
      </p:sp>
      <p:sp>
        <p:nvSpPr>
          <p:cNvPr id="37" name="TextBox 36"/>
          <p:cNvSpPr txBox="1"/>
          <p:nvPr/>
        </p:nvSpPr>
        <p:spPr>
          <a:xfrm>
            <a:off x="2423160" y="3721608"/>
            <a:ext cx="640080" cy="438912"/>
          </a:xfrm>
          <a:prstGeom prst="rect">
            <a:avLst/>
          </a:prstGeom>
          <a:noFill/>
        </p:spPr>
        <p:txBody>
          <a:bodyPr wrap="square">
            <a:spAutoFit/>
          </a:bodyPr>
          <a:lstStyle/>
          <a:p>
            <a:pPr algn="l"/>
            <a:r>
              <a:rPr sz="1000" b="0">
                <a:solidFill>
                  <a:srgbClr val="FFFFFF"/>
                </a:solidFill>
              </a:rPr>
              <a:t>720</a:t>
            </a:r>
          </a:p>
        </p:txBody>
      </p:sp>
      <p:sp>
        <p:nvSpPr>
          <p:cNvPr id="38" name="TextBox 37"/>
          <p:cNvSpPr txBox="1"/>
          <p:nvPr/>
        </p:nvSpPr>
        <p:spPr>
          <a:xfrm>
            <a:off x="3090672" y="3721608"/>
            <a:ext cx="5943600" cy="438912"/>
          </a:xfrm>
          <a:prstGeom prst="rect">
            <a:avLst/>
          </a:prstGeom>
          <a:noFill/>
        </p:spPr>
        <p:txBody>
          <a:bodyPr wrap="square">
            <a:spAutoFit/>
          </a:bodyPr>
          <a:lstStyle/>
          <a:p>
            <a:pPr algn="l"/>
            <a:r>
              <a:rPr sz="1000" b="0">
                <a:solidFill>
                  <a:srgbClr val="FFFFFF"/>
                </a:solidFill>
              </a:rPr>
              <a:t>scheme_code, month, aum_cr, folios</a:t>
            </a:r>
          </a:p>
        </p:txBody>
      </p:sp>
      <p:sp>
        <p:nvSpPr>
          <p:cNvPr id="39" name="TextBox 38"/>
          <p:cNvSpPr txBox="1"/>
          <p:nvPr/>
        </p:nvSpPr>
        <p:spPr>
          <a:xfrm>
            <a:off x="9052560" y="3721608"/>
            <a:ext cx="1463040" cy="438912"/>
          </a:xfrm>
          <a:prstGeom prst="rect">
            <a:avLst/>
          </a:prstGeom>
          <a:noFill/>
        </p:spPr>
        <p:txBody>
          <a:bodyPr wrap="square">
            <a:spAutoFit/>
          </a:bodyPr>
          <a:lstStyle/>
          <a:p>
            <a:pPr algn="l"/>
            <a:r>
              <a:rPr sz="1000" b="0">
                <a:solidFill>
                  <a:srgbClr val="4FC3F7"/>
                </a:solidFill>
              </a:rPr>
              <a:t>Aggregate</a:t>
            </a:r>
          </a:p>
        </p:txBody>
      </p:sp>
      <p:sp>
        <p:nvSpPr>
          <p:cNvPr id="40" name="Rectangle 39"/>
          <p:cNvSpPr/>
          <p:nvPr/>
        </p:nvSpPr>
        <p:spPr>
          <a:xfrm>
            <a:off x="365760" y="4178808"/>
            <a:ext cx="11430000" cy="457200"/>
          </a:xfrm>
          <a:prstGeom prst="rect">
            <a:avLst/>
          </a:prstGeom>
          <a:solidFill>
            <a:srgbClr val="12151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4197096"/>
            <a:ext cx="2011680" cy="438912"/>
          </a:xfrm>
          <a:prstGeom prst="rect">
            <a:avLst/>
          </a:prstGeom>
          <a:noFill/>
        </p:spPr>
        <p:txBody>
          <a:bodyPr wrap="square">
            <a:spAutoFit/>
          </a:bodyPr>
          <a:lstStyle/>
          <a:p>
            <a:pPr algn="l"/>
            <a:r>
              <a:rPr sz="1000" b="0">
                <a:solidFill>
                  <a:srgbClr val="FFFFFF"/>
                </a:solidFill>
              </a:rPr>
              <a:t>risk_metrics</a:t>
            </a:r>
          </a:p>
        </p:txBody>
      </p:sp>
      <p:sp>
        <p:nvSpPr>
          <p:cNvPr id="42" name="TextBox 41"/>
          <p:cNvSpPr txBox="1"/>
          <p:nvPr/>
        </p:nvSpPr>
        <p:spPr>
          <a:xfrm>
            <a:off x="2423160" y="4197096"/>
            <a:ext cx="640080" cy="438912"/>
          </a:xfrm>
          <a:prstGeom prst="rect">
            <a:avLst/>
          </a:prstGeom>
          <a:noFill/>
        </p:spPr>
        <p:txBody>
          <a:bodyPr wrap="square">
            <a:spAutoFit/>
          </a:bodyPr>
          <a:lstStyle/>
          <a:p>
            <a:pPr algn="l"/>
            <a:r>
              <a:rPr sz="1000" b="0">
                <a:solidFill>
                  <a:srgbClr val="FFFFFF"/>
                </a:solidFill>
              </a:rPr>
              <a:t>20</a:t>
            </a:r>
          </a:p>
        </p:txBody>
      </p:sp>
      <p:sp>
        <p:nvSpPr>
          <p:cNvPr id="43" name="TextBox 42"/>
          <p:cNvSpPr txBox="1"/>
          <p:nvPr/>
        </p:nvSpPr>
        <p:spPr>
          <a:xfrm>
            <a:off x="3090672" y="4197096"/>
            <a:ext cx="5943600" cy="438912"/>
          </a:xfrm>
          <a:prstGeom prst="rect">
            <a:avLst/>
          </a:prstGeom>
          <a:noFill/>
        </p:spPr>
        <p:txBody>
          <a:bodyPr wrap="square">
            <a:spAutoFit/>
          </a:bodyPr>
          <a:lstStyle/>
          <a:p>
            <a:pPr algn="l"/>
            <a:r>
              <a:rPr sz="1000" b="0">
                <a:solidFill>
                  <a:srgbClr val="FFFFFF"/>
                </a:solidFill>
              </a:rPr>
              <a:t>std_dev, beta, sharpe, alpha, sortino</a:t>
            </a:r>
          </a:p>
        </p:txBody>
      </p:sp>
      <p:sp>
        <p:nvSpPr>
          <p:cNvPr id="44" name="TextBox 43"/>
          <p:cNvSpPr txBox="1"/>
          <p:nvPr/>
        </p:nvSpPr>
        <p:spPr>
          <a:xfrm>
            <a:off x="9052560" y="4197096"/>
            <a:ext cx="1463040" cy="438912"/>
          </a:xfrm>
          <a:prstGeom prst="rect">
            <a:avLst/>
          </a:prstGeom>
          <a:noFill/>
        </p:spPr>
        <p:txBody>
          <a:bodyPr wrap="square">
            <a:spAutoFit/>
          </a:bodyPr>
          <a:lstStyle/>
          <a:p>
            <a:pPr algn="l"/>
            <a:r>
              <a:rPr sz="1000" b="0">
                <a:solidFill>
                  <a:srgbClr val="4FC3F7"/>
                </a:solidFill>
              </a:rPr>
              <a:t>Derived</a:t>
            </a:r>
          </a:p>
        </p:txBody>
      </p:sp>
      <p:sp>
        <p:nvSpPr>
          <p:cNvPr id="45" name="Rectangle 44"/>
          <p:cNvSpPr/>
          <p:nvPr/>
        </p:nvSpPr>
        <p:spPr>
          <a:xfrm>
            <a:off x="365760" y="4654296"/>
            <a:ext cx="11430000" cy="4572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5760" y="4672584"/>
            <a:ext cx="2011680" cy="438912"/>
          </a:xfrm>
          <a:prstGeom prst="rect">
            <a:avLst/>
          </a:prstGeom>
          <a:noFill/>
        </p:spPr>
        <p:txBody>
          <a:bodyPr wrap="square">
            <a:spAutoFit/>
          </a:bodyPr>
          <a:lstStyle/>
          <a:p>
            <a:pPr algn="l"/>
            <a:r>
              <a:rPr sz="1000" b="0">
                <a:solidFill>
                  <a:srgbClr val="FFFFFF"/>
                </a:solidFill>
              </a:rPr>
              <a:t>expense_ratio</a:t>
            </a:r>
          </a:p>
        </p:txBody>
      </p:sp>
      <p:sp>
        <p:nvSpPr>
          <p:cNvPr id="47" name="TextBox 46"/>
          <p:cNvSpPr txBox="1"/>
          <p:nvPr/>
        </p:nvSpPr>
        <p:spPr>
          <a:xfrm>
            <a:off x="2423160" y="4672584"/>
            <a:ext cx="640080" cy="438912"/>
          </a:xfrm>
          <a:prstGeom prst="rect">
            <a:avLst/>
          </a:prstGeom>
          <a:noFill/>
        </p:spPr>
        <p:txBody>
          <a:bodyPr wrap="square">
            <a:spAutoFit/>
          </a:bodyPr>
          <a:lstStyle/>
          <a:p>
            <a:pPr algn="l"/>
            <a:r>
              <a:rPr sz="1000" b="0">
                <a:solidFill>
                  <a:srgbClr val="FFFFFF"/>
                </a:solidFill>
              </a:rPr>
              <a:t>20</a:t>
            </a:r>
          </a:p>
        </p:txBody>
      </p:sp>
      <p:sp>
        <p:nvSpPr>
          <p:cNvPr id="48" name="TextBox 47"/>
          <p:cNvSpPr txBox="1"/>
          <p:nvPr/>
        </p:nvSpPr>
        <p:spPr>
          <a:xfrm>
            <a:off x="3090672" y="4672584"/>
            <a:ext cx="5943600" cy="438912"/>
          </a:xfrm>
          <a:prstGeom prst="rect">
            <a:avLst/>
          </a:prstGeom>
          <a:noFill/>
        </p:spPr>
        <p:txBody>
          <a:bodyPr wrap="square">
            <a:spAutoFit/>
          </a:bodyPr>
          <a:lstStyle/>
          <a:p>
            <a:pPr algn="l"/>
            <a:r>
              <a:rPr sz="1000" b="0">
                <a:solidFill>
                  <a:srgbClr val="FFFFFF"/>
                </a:solidFill>
              </a:rPr>
              <a:t>direct_ter, regular_ter, effective_date</a:t>
            </a:r>
          </a:p>
        </p:txBody>
      </p:sp>
      <p:sp>
        <p:nvSpPr>
          <p:cNvPr id="49" name="TextBox 48"/>
          <p:cNvSpPr txBox="1"/>
          <p:nvPr/>
        </p:nvSpPr>
        <p:spPr>
          <a:xfrm>
            <a:off x="9052560" y="4672584"/>
            <a:ext cx="1463040" cy="438912"/>
          </a:xfrm>
          <a:prstGeom prst="rect">
            <a:avLst/>
          </a:prstGeom>
          <a:noFill/>
        </p:spPr>
        <p:txBody>
          <a:bodyPr wrap="square">
            <a:spAutoFit/>
          </a:bodyPr>
          <a:lstStyle/>
          <a:p>
            <a:pPr algn="l"/>
            <a:r>
              <a:rPr sz="1000" b="0">
                <a:solidFill>
                  <a:srgbClr val="4FC3F7"/>
                </a:solidFill>
              </a:rPr>
              <a:t>Master</a:t>
            </a:r>
          </a:p>
        </p:txBody>
      </p:sp>
      <p:sp>
        <p:nvSpPr>
          <p:cNvPr id="50" name="Rectangle 49"/>
          <p:cNvSpPr/>
          <p:nvPr/>
        </p:nvSpPr>
        <p:spPr>
          <a:xfrm>
            <a:off x="365760" y="5129784"/>
            <a:ext cx="11430000" cy="457200"/>
          </a:xfrm>
          <a:prstGeom prst="rect">
            <a:avLst/>
          </a:prstGeom>
          <a:solidFill>
            <a:srgbClr val="12151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65760" y="5148072"/>
            <a:ext cx="2011680" cy="438912"/>
          </a:xfrm>
          <a:prstGeom prst="rect">
            <a:avLst/>
          </a:prstGeom>
          <a:noFill/>
        </p:spPr>
        <p:txBody>
          <a:bodyPr wrap="square">
            <a:spAutoFit/>
          </a:bodyPr>
          <a:lstStyle/>
          <a:p>
            <a:pPr algn="l"/>
            <a:r>
              <a:rPr sz="1000" b="0">
                <a:solidFill>
                  <a:srgbClr val="FFFFFF"/>
                </a:solidFill>
              </a:rPr>
              <a:t>fund_manager</a:t>
            </a:r>
          </a:p>
        </p:txBody>
      </p:sp>
      <p:sp>
        <p:nvSpPr>
          <p:cNvPr id="52" name="TextBox 51"/>
          <p:cNvSpPr txBox="1"/>
          <p:nvPr/>
        </p:nvSpPr>
        <p:spPr>
          <a:xfrm>
            <a:off x="2423160" y="5148072"/>
            <a:ext cx="640080" cy="438912"/>
          </a:xfrm>
          <a:prstGeom prst="rect">
            <a:avLst/>
          </a:prstGeom>
          <a:noFill/>
        </p:spPr>
        <p:txBody>
          <a:bodyPr wrap="square">
            <a:spAutoFit/>
          </a:bodyPr>
          <a:lstStyle/>
          <a:p>
            <a:pPr algn="l"/>
            <a:r>
              <a:rPr sz="1000" b="0">
                <a:solidFill>
                  <a:srgbClr val="FFFFFF"/>
                </a:solidFill>
              </a:rPr>
              <a:t>20</a:t>
            </a:r>
          </a:p>
        </p:txBody>
      </p:sp>
      <p:sp>
        <p:nvSpPr>
          <p:cNvPr id="53" name="TextBox 52"/>
          <p:cNvSpPr txBox="1"/>
          <p:nvPr/>
        </p:nvSpPr>
        <p:spPr>
          <a:xfrm>
            <a:off x="3090672" y="5148072"/>
            <a:ext cx="5943600" cy="438912"/>
          </a:xfrm>
          <a:prstGeom prst="rect">
            <a:avLst/>
          </a:prstGeom>
          <a:noFill/>
        </p:spPr>
        <p:txBody>
          <a:bodyPr wrap="square">
            <a:spAutoFit/>
          </a:bodyPr>
          <a:lstStyle/>
          <a:p>
            <a:pPr algn="l"/>
            <a:r>
              <a:rPr sz="1000" b="0">
                <a:solidFill>
                  <a:srgbClr val="FFFFFF"/>
                </a:solidFill>
              </a:rPr>
              <a:t>manager, exp_years, qualification</a:t>
            </a:r>
          </a:p>
        </p:txBody>
      </p:sp>
      <p:sp>
        <p:nvSpPr>
          <p:cNvPr id="54" name="TextBox 53"/>
          <p:cNvSpPr txBox="1"/>
          <p:nvPr/>
        </p:nvSpPr>
        <p:spPr>
          <a:xfrm>
            <a:off x="9052560" y="5148072"/>
            <a:ext cx="1463040" cy="438912"/>
          </a:xfrm>
          <a:prstGeom prst="rect">
            <a:avLst/>
          </a:prstGeom>
          <a:noFill/>
        </p:spPr>
        <p:txBody>
          <a:bodyPr wrap="square">
            <a:spAutoFit/>
          </a:bodyPr>
          <a:lstStyle/>
          <a:p>
            <a:pPr algn="l"/>
            <a:r>
              <a:rPr sz="1000" b="0">
                <a:solidFill>
                  <a:srgbClr val="4FC3F7"/>
                </a:solidFill>
              </a:rPr>
              <a:t>Master</a:t>
            </a:r>
          </a:p>
        </p:txBody>
      </p:sp>
      <p:sp>
        <p:nvSpPr>
          <p:cNvPr id="55" name="Rectangle 54"/>
          <p:cNvSpPr/>
          <p:nvPr/>
        </p:nvSpPr>
        <p:spPr>
          <a:xfrm>
            <a:off x="365760" y="5605272"/>
            <a:ext cx="11430000" cy="4572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65760" y="5623559"/>
            <a:ext cx="2011680" cy="438912"/>
          </a:xfrm>
          <a:prstGeom prst="rect">
            <a:avLst/>
          </a:prstGeom>
          <a:noFill/>
        </p:spPr>
        <p:txBody>
          <a:bodyPr wrap="square">
            <a:spAutoFit/>
          </a:bodyPr>
          <a:lstStyle/>
          <a:p>
            <a:pPr algn="l"/>
            <a:r>
              <a:rPr sz="1000" b="0">
                <a:solidFill>
                  <a:srgbClr val="FFFFFF"/>
                </a:solidFill>
              </a:rPr>
              <a:t>benchmark_data</a:t>
            </a:r>
          </a:p>
        </p:txBody>
      </p:sp>
      <p:sp>
        <p:nvSpPr>
          <p:cNvPr id="57" name="TextBox 56"/>
          <p:cNvSpPr txBox="1"/>
          <p:nvPr/>
        </p:nvSpPr>
        <p:spPr>
          <a:xfrm>
            <a:off x="2423160" y="5623559"/>
            <a:ext cx="640080" cy="438912"/>
          </a:xfrm>
          <a:prstGeom prst="rect">
            <a:avLst/>
          </a:prstGeom>
          <a:noFill/>
        </p:spPr>
        <p:txBody>
          <a:bodyPr wrap="square">
            <a:spAutoFit/>
          </a:bodyPr>
          <a:lstStyle/>
          <a:p>
            <a:pPr algn="l"/>
            <a:r>
              <a:rPr sz="1000" b="0">
                <a:solidFill>
                  <a:srgbClr val="FFFFFF"/>
                </a:solidFill>
              </a:rPr>
              <a:t>500</a:t>
            </a:r>
          </a:p>
        </p:txBody>
      </p:sp>
      <p:sp>
        <p:nvSpPr>
          <p:cNvPr id="58" name="TextBox 57"/>
          <p:cNvSpPr txBox="1"/>
          <p:nvPr/>
        </p:nvSpPr>
        <p:spPr>
          <a:xfrm>
            <a:off x="3090672" y="5623559"/>
            <a:ext cx="5943600" cy="438912"/>
          </a:xfrm>
          <a:prstGeom prst="rect">
            <a:avLst/>
          </a:prstGeom>
          <a:noFill/>
        </p:spPr>
        <p:txBody>
          <a:bodyPr wrap="square">
            <a:spAutoFit/>
          </a:bodyPr>
          <a:lstStyle/>
          <a:p>
            <a:pPr algn="l"/>
            <a:r>
              <a:rPr sz="1000" b="0">
                <a:solidFill>
                  <a:srgbClr val="FFFFFF"/>
                </a:solidFill>
              </a:rPr>
              <a:t>nifty50, nifty100, bse500, nifty_midcap</a:t>
            </a:r>
          </a:p>
        </p:txBody>
      </p:sp>
      <p:sp>
        <p:nvSpPr>
          <p:cNvPr id="59" name="TextBox 58"/>
          <p:cNvSpPr txBox="1"/>
          <p:nvPr/>
        </p:nvSpPr>
        <p:spPr>
          <a:xfrm>
            <a:off x="9052560" y="5623559"/>
            <a:ext cx="1463040" cy="438912"/>
          </a:xfrm>
          <a:prstGeom prst="rect">
            <a:avLst/>
          </a:prstGeom>
          <a:noFill/>
        </p:spPr>
        <p:txBody>
          <a:bodyPr wrap="square">
            <a:spAutoFit/>
          </a:bodyPr>
          <a:lstStyle/>
          <a:p>
            <a:pPr algn="l"/>
            <a:r>
              <a:rPr sz="1000" b="0">
                <a:solidFill>
                  <a:srgbClr val="4FC3F7"/>
                </a:solidFill>
              </a:rPr>
              <a:t>Reference</a:t>
            </a:r>
          </a:p>
        </p:txBody>
      </p:sp>
      <p:sp>
        <p:nvSpPr>
          <p:cNvPr id="60" name="TextBox 59"/>
          <p:cNvSpPr txBox="1"/>
          <p:nvPr/>
        </p:nvSpPr>
        <p:spPr>
          <a:xfrm>
            <a:off x="11247120" y="6492240"/>
            <a:ext cx="731520" cy="274320"/>
          </a:xfrm>
          <a:prstGeom prst="rect">
            <a:avLst/>
          </a:prstGeom>
          <a:noFill/>
        </p:spPr>
        <p:txBody>
          <a:bodyPr wrap="square">
            <a:spAutoFit/>
          </a:bodyPr>
          <a:lstStyle/>
          <a:p>
            <a:pPr algn="r"/>
            <a:r>
              <a:rPr sz="1000" b="0">
                <a:solidFill>
                  <a:srgbClr val="90A4AE"/>
                </a:solidFill>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9144000" cy="548640"/>
          </a:xfrm>
          <a:prstGeom prst="rect">
            <a:avLst/>
          </a:prstGeom>
          <a:noFill/>
        </p:spPr>
        <p:txBody>
          <a:bodyPr wrap="square">
            <a:spAutoFit/>
          </a:bodyPr>
          <a:lstStyle/>
          <a:p>
            <a:pPr algn="l"/>
            <a:r>
              <a:rPr sz="2800" b="1">
                <a:solidFill>
                  <a:srgbClr val="4FC3F7"/>
                </a:solidFill>
              </a:rPr>
              <a:t>Live NAV — mfapi.in</a:t>
            </a:r>
          </a:p>
        </p:txBody>
      </p:sp>
      <p:sp>
        <p:nvSpPr>
          <p:cNvPr id="5" name="Rectangle 4"/>
          <p:cNvSpPr/>
          <p:nvPr/>
        </p:nvSpPr>
        <p:spPr>
          <a:xfrm>
            <a:off x="457200" y="1005840"/>
            <a:ext cx="5669280" cy="512064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5303520" cy="365760"/>
          </a:xfrm>
          <a:prstGeom prst="rect">
            <a:avLst/>
          </a:prstGeom>
          <a:noFill/>
        </p:spPr>
        <p:txBody>
          <a:bodyPr wrap="square">
            <a:spAutoFit/>
          </a:bodyPr>
          <a:lstStyle/>
          <a:p>
            <a:pPr algn="l"/>
            <a:r>
              <a:rPr sz="1300" b="1">
                <a:solidFill>
                  <a:srgbClr val="4FC3F7"/>
                </a:solidFill>
              </a:rPr>
              <a:t>API Endpoint</a:t>
            </a:r>
          </a:p>
        </p:txBody>
      </p:sp>
      <p:sp>
        <p:nvSpPr>
          <p:cNvPr id="7" name="TextBox 6"/>
          <p:cNvSpPr txBox="1"/>
          <p:nvPr/>
        </p:nvSpPr>
        <p:spPr>
          <a:xfrm>
            <a:off x="640080" y="1554480"/>
            <a:ext cx="5303520" cy="365760"/>
          </a:xfrm>
          <a:prstGeom prst="rect">
            <a:avLst/>
          </a:prstGeom>
          <a:noFill/>
        </p:spPr>
        <p:txBody>
          <a:bodyPr wrap="square">
            <a:spAutoFit/>
          </a:bodyPr>
          <a:lstStyle/>
          <a:p>
            <a:pPr algn="l"/>
            <a:r>
              <a:rPr sz="1100" b="0">
                <a:solidFill>
                  <a:srgbClr val="66BB6A"/>
                </a:solidFill>
              </a:rPr>
              <a:t>GET  https://api.mfapi.in/mf/{scheme_code}</a:t>
            </a:r>
          </a:p>
        </p:txBody>
      </p:sp>
      <p:sp>
        <p:nvSpPr>
          <p:cNvPr id="8" name="TextBox 7"/>
          <p:cNvSpPr txBox="1"/>
          <p:nvPr/>
        </p:nvSpPr>
        <p:spPr>
          <a:xfrm>
            <a:off x="640080" y="1920240"/>
            <a:ext cx="5303520" cy="320040"/>
          </a:xfrm>
          <a:prstGeom prst="rect">
            <a:avLst/>
          </a:prstGeom>
          <a:noFill/>
        </p:spPr>
        <p:txBody>
          <a:bodyPr wrap="square">
            <a:spAutoFit/>
          </a:bodyPr>
          <a:lstStyle/>
          <a:p>
            <a:pPr algn="l"/>
            <a:r>
              <a:rPr sz="1000" b="0">
                <a:solidFill>
                  <a:srgbClr val="90A4AE"/>
                </a:solidFill>
              </a:rPr>
              <a:t>No authentication required  ·  Free  ·  JSON response</a:t>
            </a:r>
          </a:p>
        </p:txBody>
      </p:sp>
      <p:sp>
        <p:nvSpPr>
          <p:cNvPr id="9" name="TextBox 8"/>
          <p:cNvSpPr txBox="1"/>
          <p:nvPr/>
        </p:nvSpPr>
        <p:spPr>
          <a:xfrm>
            <a:off x="640080" y="2377440"/>
            <a:ext cx="5303520" cy="320040"/>
          </a:xfrm>
          <a:prstGeom prst="rect">
            <a:avLst/>
          </a:prstGeom>
          <a:noFill/>
        </p:spPr>
        <p:txBody>
          <a:bodyPr wrap="square">
            <a:spAutoFit/>
          </a:bodyPr>
          <a:lstStyle/>
          <a:p>
            <a:pPr algn="l"/>
            <a:r>
              <a:rPr sz="1200" b="1">
                <a:solidFill>
                  <a:srgbClr val="4FC3F7"/>
                </a:solidFill>
              </a:rPr>
              <a:t>Response Structure</a:t>
            </a:r>
          </a:p>
        </p:txBody>
      </p:sp>
      <p:sp>
        <p:nvSpPr>
          <p:cNvPr id="10" name="TextBox 9"/>
          <p:cNvSpPr txBox="1"/>
          <p:nvPr/>
        </p:nvSpPr>
        <p:spPr>
          <a:xfrm>
            <a:off x="640080" y="2743200"/>
            <a:ext cx="5303520" cy="2011680"/>
          </a:xfrm>
          <a:prstGeom prst="rect">
            <a:avLst/>
          </a:prstGeom>
          <a:noFill/>
        </p:spPr>
        <p:txBody>
          <a:bodyPr wrap="square">
            <a:spAutoFit/>
          </a:bodyPr>
          <a:lstStyle/>
          <a:p>
            <a:pPr algn="l"/>
            <a:r>
              <a:rPr sz="1000" b="0">
                <a:solidFill>
                  <a:srgbClr val="66BB6A"/>
                </a:solidFill>
              </a:rPr>
              <a:t>{
  "meta": {
    "fund_house": "...",
    "scheme_name": "...",
    "scheme_type": "..."
  },
  "data": [
    { "date": "24-07-2026", "nav": "204.85" },
    ...
  ]
}</a:t>
            </a:r>
          </a:p>
        </p:txBody>
      </p:sp>
      <p:sp>
        <p:nvSpPr>
          <p:cNvPr id="11" name="Rectangle 10"/>
          <p:cNvSpPr/>
          <p:nvPr/>
        </p:nvSpPr>
        <p:spPr>
          <a:xfrm>
            <a:off x="6400800" y="1005840"/>
            <a:ext cx="5394960" cy="512064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097280"/>
            <a:ext cx="5029200" cy="365760"/>
          </a:xfrm>
          <a:prstGeom prst="rect">
            <a:avLst/>
          </a:prstGeom>
          <a:noFill/>
        </p:spPr>
        <p:txBody>
          <a:bodyPr wrap="square">
            <a:spAutoFit/>
          </a:bodyPr>
          <a:lstStyle/>
          <a:p>
            <a:pPr algn="l"/>
            <a:r>
              <a:rPr sz="1300" b="1">
                <a:solidFill>
                  <a:srgbClr val="4FC3F7"/>
                </a:solidFill>
              </a:rPr>
              <a:t>Schemes Fetched</a:t>
            </a:r>
          </a:p>
        </p:txBody>
      </p:sp>
      <p:sp>
        <p:nvSpPr>
          <p:cNvPr id="13" name="Rectangle 12"/>
          <p:cNvSpPr/>
          <p:nvPr/>
        </p:nvSpPr>
        <p:spPr>
          <a:xfrm>
            <a:off x="6400800" y="1554480"/>
            <a:ext cx="5394960" cy="347472"/>
          </a:xfrm>
          <a:prstGeom prst="rect">
            <a:avLst/>
          </a:prstGeom>
          <a:solidFill>
            <a:srgbClr val="1E3A5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572768"/>
            <a:ext cx="1097280" cy="310896"/>
          </a:xfrm>
          <a:prstGeom prst="rect">
            <a:avLst/>
          </a:prstGeom>
          <a:noFill/>
        </p:spPr>
        <p:txBody>
          <a:bodyPr wrap="square">
            <a:spAutoFit/>
          </a:bodyPr>
          <a:lstStyle/>
          <a:p>
            <a:pPr algn="l"/>
            <a:r>
              <a:rPr sz="1000" b="1">
                <a:solidFill>
                  <a:srgbClr val="4FC3F7"/>
                </a:solidFill>
              </a:rPr>
              <a:t>Scheme</a:t>
            </a:r>
          </a:p>
        </p:txBody>
      </p:sp>
      <p:sp>
        <p:nvSpPr>
          <p:cNvPr id="15" name="TextBox 14"/>
          <p:cNvSpPr txBox="1"/>
          <p:nvPr/>
        </p:nvSpPr>
        <p:spPr>
          <a:xfrm>
            <a:off x="8778240" y="1572768"/>
            <a:ext cx="1097280" cy="310896"/>
          </a:xfrm>
          <a:prstGeom prst="rect">
            <a:avLst/>
          </a:prstGeom>
          <a:noFill/>
        </p:spPr>
        <p:txBody>
          <a:bodyPr wrap="square">
            <a:spAutoFit/>
          </a:bodyPr>
          <a:lstStyle/>
          <a:p>
            <a:pPr algn="l"/>
            <a:r>
              <a:rPr sz="1000" b="1">
                <a:solidFill>
                  <a:srgbClr val="4FC3F7"/>
                </a:solidFill>
              </a:rPr>
              <a:t>Code</a:t>
            </a:r>
          </a:p>
        </p:txBody>
      </p:sp>
      <p:sp>
        <p:nvSpPr>
          <p:cNvPr id="16" name="TextBox 15"/>
          <p:cNvSpPr txBox="1"/>
          <p:nvPr/>
        </p:nvSpPr>
        <p:spPr>
          <a:xfrm>
            <a:off x="9509760" y="1572768"/>
            <a:ext cx="1097280" cy="310896"/>
          </a:xfrm>
          <a:prstGeom prst="rect">
            <a:avLst/>
          </a:prstGeom>
          <a:noFill/>
        </p:spPr>
        <p:txBody>
          <a:bodyPr wrap="square">
            <a:spAutoFit/>
          </a:bodyPr>
          <a:lstStyle/>
          <a:p>
            <a:pPr algn="l"/>
            <a:r>
              <a:rPr sz="1000" b="1">
                <a:solidFill>
                  <a:srgbClr val="4FC3F7"/>
                </a:solidFill>
              </a:rPr>
              <a:t>Latest NAV</a:t>
            </a:r>
          </a:p>
        </p:txBody>
      </p:sp>
      <p:sp>
        <p:nvSpPr>
          <p:cNvPr id="17" name="TextBox 16"/>
          <p:cNvSpPr txBox="1"/>
          <p:nvPr/>
        </p:nvSpPr>
        <p:spPr>
          <a:xfrm>
            <a:off x="10515600" y="1572768"/>
            <a:ext cx="1097280" cy="310896"/>
          </a:xfrm>
          <a:prstGeom prst="rect">
            <a:avLst/>
          </a:prstGeom>
          <a:noFill/>
        </p:spPr>
        <p:txBody>
          <a:bodyPr wrap="square">
            <a:spAutoFit/>
          </a:bodyPr>
          <a:lstStyle/>
          <a:p>
            <a:pPr algn="l"/>
            <a:r>
              <a:rPr sz="1000" b="1">
                <a:solidFill>
                  <a:srgbClr val="4FC3F7"/>
                </a:solidFill>
              </a:rPr>
              <a:t>Records</a:t>
            </a:r>
          </a:p>
        </p:txBody>
      </p:sp>
      <p:sp>
        <p:nvSpPr>
          <p:cNvPr id="18" name="Rectangle 17"/>
          <p:cNvSpPr/>
          <p:nvPr/>
        </p:nvSpPr>
        <p:spPr>
          <a:xfrm>
            <a:off x="6400800" y="1920240"/>
            <a:ext cx="5394960" cy="484632"/>
          </a:xfrm>
          <a:prstGeom prst="rect">
            <a:avLst/>
          </a:prstGeom>
          <a:solidFill>
            <a:srgbClr val="12151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1938528"/>
            <a:ext cx="1097280" cy="457200"/>
          </a:xfrm>
          <a:prstGeom prst="rect">
            <a:avLst/>
          </a:prstGeom>
          <a:noFill/>
        </p:spPr>
        <p:txBody>
          <a:bodyPr wrap="square">
            <a:spAutoFit/>
          </a:bodyPr>
          <a:lstStyle/>
          <a:p>
            <a:pPr algn="l"/>
            <a:r>
              <a:rPr sz="1000" b="0">
                <a:solidFill>
                  <a:srgbClr val="FFFFFF"/>
                </a:solidFill>
              </a:rPr>
              <a:t>HDFC Top 100 Direct</a:t>
            </a:r>
          </a:p>
        </p:txBody>
      </p:sp>
      <p:sp>
        <p:nvSpPr>
          <p:cNvPr id="20" name="TextBox 19"/>
          <p:cNvSpPr txBox="1"/>
          <p:nvPr/>
        </p:nvSpPr>
        <p:spPr>
          <a:xfrm>
            <a:off x="8778240" y="1938528"/>
            <a:ext cx="1097280" cy="457200"/>
          </a:xfrm>
          <a:prstGeom prst="rect">
            <a:avLst/>
          </a:prstGeom>
          <a:noFill/>
        </p:spPr>
        <p:txBody>
          <a:bodyPr wrap="square">
            <a:spAutoFit/>
          </a:bodyPr>
          <a:lstStyle/>
          <a:p>
            <a:pPr algn="l"/>
            <a:r>
              <a:rPr sz="1000" b="0">
                <a:solidFill>
                  <a:srgbClr val="FFFFFF"/>
                </a:solidFill>
              </a:rPr>
              <a:t>125497</a:t>
            </a:r>
          </a:p>
        </p:txBody>
      </p:sp>
      <p:sp>
        <p:nvSpPr>
          <p:cNvPr id="21" name="TextBox 20"/>
          <p:cNvSpPr txBox="1"/>
          <p:nvPr/>
        </p:nvSpPr>
        <p:spPr>
          <a:xfrm>
            <a:off x="9509760" y="1938528"/>
            <a:ext cx="1097280" cy="457200"/>
          </a:xfrm>
          <a:prstGeom prst="rect">
            <a:avLst/>
          </a:prstGeom>
          <a:noFill/>
        </p:spPr>
        <p:txBody>
          <a:bodyPr wrap="square">
            <a:spAutoFit/>
          </a:bodyPr>
          <a:lstStyle/>
          <a:p>
            <a:pPr algn="l"/>
            <a:r>
              <a:rPr sz="1000" b="0">
                <a:solidFill>
                  <a:srgbClr val="FFFFFF"/>
                </a:solidFill>
              </a:rPr>
              <a:t>204.85</a:t>
            </a:r>
          </a:p>
        </p:txBody>
      </p:sp>
      <p:sp>
        <p:nvSpPr>
          <p:cNvPr id="22" name="TextBox 21"/>
          <p:cNvSpPr txBox="1"/>
          <p:nvPr/>
        </p:nvSpPr>
        <p:spPr>
          <a:xfrm>
            <a:off x="10515600" y="1938528"/>
            <a:ext cx="1097280" cy="457200"/>
          </a:xfrm>
          <a:prstGeom prst="rect">
            <a:avLst/>
          </a:prstGeom>
          <a:noFill/>
        </p:spPr>
        <p:txBody>
          <a:bodyPr wrap="square">
            <a:spAutoFit/>
          </a:bodyPr>
          <a:lstStyle/>
          <a:p>
            <a:pPr algn="l"/>
            <a:r>
              <a:rPr sz="1000" b="0">
                <a:solidFill>
                  <a:srgbClr val="FFFFFF"/>
                </a:solidFill>
              </a:rPr>
              <a:t>3,129</a:t>
            </a:r>
          </a:p>
        </p:txBody>
      </p:sp>
      <p:sp>
        <p:nvSpPr>
          <p:cNvPr id="23" name="Rectangle 22"/>
          <p:cNvSpPr/>
          <p:nvPr/>
        </p:nvSpPr>
        <p:spPr>
          <a:xfrm>
            <a:off x="6400800" y="2423160"/>
            <a:ext cx="5394960" cy="484632"/>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2441448"/>
            <a:ext cx="1097280" cy="457200"/>
          </a:xfrm>
          <a:prstGeom prst="rect">
            <a:avLst/>
          </a:prstGeom>
          <a:noFill/>
        </p:spPr>
        <p:txBody>
          <a:bodyPr wrap="square">
            <a:spAutoFit/>
          </a:bodyPr>
          <a:lstStyle/>
          <a:p>
            <a:pPr algn="l"/>
            <a:r>
              <a:rPr sz="1000" b="0">
                <a:solidFill>
                  <a:srgbClr val="FFFFFF"/>
                </a:solidFill>
              </a:rPr>
              <a:t>SBI Bluechip</a:t>
            </a:r>
          </a:p>
        </p:txBody>
      </p:sp>
      <p:sp>
        <p:nvSpPr>
          <p:cNvPr id="25" name="TextBox 24"/>
          <p:cNvSpPr txBox="1"/>
          <p:nvPr/>
        </p:nvSpPr>
        <p:spPr>
          <a:xfrm>
            <a:off x="8778240" y="2441448"/>
            <a:ext cx="1097280" cy="457200"/>
          </a:xfrm>
          <a:prstGeom prst="rect">
            <a:avLst/>
          </a:prstGeom>
          <a:noFill/>
        </p:spPr>
        <p:txBody>
          <a:bodyPr wrap="square">
            <a:spAutoFit/>
          </a:bodyPr>
          <a:lstStyle/>
          <a:p>
            <a:pPr algn="l"/>
            <a:r>
              <a:rPr sz="1000" b="0">
                <a:solidFill>
                  <a:srgbClr val="FFFFFF"/>
                </a:solidFill>
              </a:rPr>
              <a:t>119551</a:t>
            </a:r>
          </a:p>
        </p:txBody>
      </p:sp>
      <p:sp>
        <p:nvSpPr>
          <p:cNvPr id="26" name="TextBox 25"/>
          <p:cNvSpPr txBox="1"/>
          <p:nvPr/>
        </p:nvSpPr>
        <p:spPr>
          <a:xfrm>
            <a:off x="9509760" y="2441448"/>
            <a:ext cx="1097280" cy="457200"/>
          </a:xfrm>
          <a:prstGeom prst="rect">
            <a:avLst/>
          </a:prstGeom>
          <a:noFill/>
        </p:spPr>
        <p:txBody>
          <a:bodyPr wrap="square">
            <a:spAutoFit/>
          </a:bodyPr>
          <a:lstStyle/>
          <a:p>
            <a:pPr algn="l"/>
            <a:r>
              <a:rPr sz="1000" b="0">
                <a:solidFill>
                  <a:srgbClr val="FFFFFF"/>
                </a:solidFill>
              </a:rPr>
              <a:t>106.60</a:t>
            </a:r>
          </a:p>
        </p:txBody>
      </p:sp>
      <p:sp>
        <p:nvSpPr>
          <p:cNvPr id="27" name="TextBox 26"/>
          <p:cNvSpPr txBox="1"/>
          <p:nvPr/>
        </p:nvSpPr>
        <p:spPr>
          <a:xfrm>
            <a:off x="10515600" y="2441448"/>
            <a:ext cx="1097280" cy="457200"/>
          </a:xfrm>
          <a:prstGeom prst="rect">
            <a:avLst/>
          </a:prstGeom>
          <a:noFill/>
        </p:spPr>
        <p:txBody>
          <a:bodyPr wrap="square">
            <a:spAutoFit/>
          </a:bodyPr>
          <a:lstStyle/>
          <a:p>
            <a:pPr algn="l"/>
            <a:r>
              <a:rPr sz="1000" b="0">
                <a:solidFill>
                  <a:srgbClr val="FFFFFF"/>
                </a:solidFill>
              </a:rPr>
              <a:t>3,274</a:t>
            </a:r>
          </a:p>
        </p:txBody>
      </p:sp>
      <p:sp>
        <p:nvSpPr>
          <p:cNvPr id="28" name="Rectangle 27"/>
          <p:cNvSpPr/>
          <p:nvPr/>
        </p:nvSpPr>
        <p:spPr>
          <a:xfrm>
            <a:off x="6400800" y="2926080"/>
            <a:ext cx="5394960" cy="484632"/>
          </a:xfrm>
          <a:prstGeom prst="rect">
            <a:avLst/>
          </a:prstGeom>
          <a:solidFill>
            <a:srgbClr val="12151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2944368"/>
            <a:ext cx="1097280" cy="457200"/>
          </a:xfrm>
          <a:prstGeom prst="rect">
            <a:avLst/>
          </a:prstGeom>
          <a:noFill/>
        </p:spPr>
        <p:txBody>
          <a:bodyPr wrap="square">
            <a:spAutoFit/>
          </a:bodyPr>
          <a:lstStyle/>
          <a:p>
            <a:pPr algn="l"/>
            <a:r>
              <a:rPr sz="1000" b="0">
                <a:solidFill>
                  <a:srgbClr val="FFFFFF"/>
                </a:solidFill>
              </a:rPr>
              <a:t>ICICI Bluechip</a:t>
            </a:r>
          </a:p>
        </p:txBody>
      </p:sp>
      <p:sp>
        <p:nvSpPr>
          <p:cNvPr id="30" name="TextBox 29"/>
          <p:cNvSpPr txBox="1"/>
          <p:nvPr/>
        </p:nvSpPr>
        <p:spPr>
          <a:xfrm>
            <a:off x="8778240" y="2944368"/>
            <a:ext cx="1097280" cy="457200"/>
          </a:xfrm>
          <a:prstGeom prst="rect">
            <a:avLst/>
          </a:prstGeom>
          <a:noFill/>
        </p:spPr>
        <p:txBody>
          <a:bodyPr wrap="square">
            <a:spAutoFit/>
          </a:bodyPr>
          <a:lstStyle/>
          <a:p>
            <a:pPr algn="l"/>
            <a:r>
              <a:rPr sz="1000" b="0">
                <a:solidFill>
                  <a:srgbClr val="FFFFFF"/>
                </a:solidFill>
              </a:rPr>
              <a:t>120503</a:t>
            </a:r>
          </a:p>
        </p:txBody>
      </p:sp>
      <p:sp>
        <p:nvSpPr>
          <p:cNvPr id="31" name="TextBox 30"/>
          <p:cNvSpPr txBox="1"/>
          <p:nvPr/>
        </p:nvSpPr>
        <p:spPr>
          <a:xfrm>
            <a:off x="9509760" y="2944368"/>
            <a:ext cx="1097280" cy="457200"/>
          </a:xfrm>
          <a:prstGeom prst="rect">
            <a:avLst/>
          </a:prstGeom>
          <a:noFill/>
        </p:spPr>
        <p:txBody>
          <a:bodyPr wrap="square">
            <a:spAutoFit/>
          </a:bodyPr>
          <a:lstStyle/>
          <a:p>
            <a:pPr algn="l"/>
            <a:r>
              <a:rPr sz="1000" b="0">
                <a:solidFill>
                  <a:srgbClr val="FFFFFF"/>
                </a:solidFill>
              </a:rPr>
              <a:t>108.05</a:t>
            </a:r>
          </a:p>
        </p:txBody>
      </p:sp>
      <p:sp>
        <p:nvSpPr>
          <p:cNvPr id="32" name="TextBox 31"/>
          <p:cNvSpPr txBox="1"/>
          <p:nvPr/>
        </p:nvSpPr>
        <p:spPr>
          <a:xfrm>
            <a:off x="10515600" y="2944368"/>
            <a:ext cx="1097280" cy="457200"/>
          </a:xfrm>
          <a:prstGeom prst="rect">
            <a:avLst/>
          </a:prstGeom>
          <a:noFill/>
        </p:spPr>
        <p:txBody>
          <a:bodyPr wrap="square">
            <a:spAutoFit/>
          </a:bodyPr>
          <a:lstStyle/>
          <a:p>
            <a:pPr algn="l"/>
            <a:r>
              <a:rPr sz="1000" b="0">
                <a:solidFill>
                  <a:srgbClr val="FFFFFF"/>
                </a:solidFill>
              </a:rPr>
              <a:t>3,345</a:t>
            </a:r>
          </a:p>
        </p:txBody>
      </p:sp>
      <p:sp>
        <p:nvSpPr>
          <p:cNvPr id="33" name="Rectangle 32"/>
          <p:cNvSpPr/>
          <p:nvPr/>
        </p:nvSpPr>
        <p:spPr>
          <a:xfrm>
            <a:off x="6400800" y="3429000"/>
            <a:ext cx="5394960" cy="484632"/>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3447288"/>
            <a:ext cx="1097280" cy="457200"/>
          </a:xfrm>
          <a:prstGeom prst="rect">
            <a:avLst/>
          </a:prstGeom>
          <a:noFill/>
        </p:spPr>
        <p:txBody>
          <a:bodyPr wrap="square">
            <a:spAutoFit/>
          </a:bodyPr>
          <a:lstStyle/>
          <a:p>
            <a:pPr algn="l"/>
            <a:r>
              <a:rPr sz="1000" b="0">
                <a:solidFill>
                  <a:srgbClr val="FFFFFF"/>
                </a:solidFill>
              </a:rPr>
              <a:t>Nippon Large Cap</a:t>
            </a:r>
          </a:p>
        </p:txBody>
      </p:sp>
      <p:sp>
        <p:nvSpPr>
          <p:cNvPr id="35" name="TextBox 34"/>
          <p:cNvSpPr txBox="1"/>
          <p:nvPr/>
        </p:nvSpPr>
        <p:spPr>
          <a:xfrm>
            <a:off x="8778240" y="3447288"/>
            <a:ext cx="1097280" cy="457200"/>
          </a:xfrm>
          <a:prstGeom prst="rect">
            <a:avLst/>
          </a:prstGeom>
          <a:noFill/>
        </p:spPr>
        <p:txBody>
          <a:bodyPr wrap="square">
            <a:spAutoFit/>
          </a:bodyPr>
          <a:lstStyle/>
          <a:p>
            <a:pPr algn="l"/>
            <a:r>
              <a:rPr sz="1000" b="0">
                <a:solidFill>
                  <a:srgbClr val="FFFFFF"/>
                </a:solidFill>
              </a:rPr>
              <a:t>118632</a:t>
            </a:r>
          </a:p>
        </p:txBody>
      </p:sp>
      <p:sp>
        <p:nvSpPr>
          <p:cNvPr id="36" name="TextBox 35"/>
          <p:cNvSpPr txBox="1"/>
          <p:nvPr/>
        </p:nvSpPr>
        <p:spPr>
          <a:xfrm>
            <a:off x="9509760" y="3447288"/>
            <a:ext cx="1097280" cy="457200"/>
          </a:xfrm>
          <a:prstGeom prst="rect">
            <a:avLst/>
          </a:prstGeom>
          <a:noFill/>
        </p:spPr>
        <p:txBody>
          <a:bodyPr wrap="square">
            <a:spAutoFit/>
          </a:bodyPr>
          <a:lstStyle/>
          <a:p>
            <a:pPr algn="l"/>
            <a:r>
              <a:rPr sz="1000" b="0">
                <a:solidFill>
                  <a:srgbClr val="FFFFFF"/>
                </a:solidFill>
              </a:rPr>
              <a:t>99.33</a:t>
            </a:r>
          </a:p>
        </p:txBody>
      </p:sp>
      <p:sp>
        <p:nvSpPr>
          <p:cNvPr id="37" name="TextBox 36"/>
          <p:cNvSpPr txBox="1"/>
          <p:nvPr/>
        </p:nvSpPr>
        <p:spPr>
          <a:xfrm>
            <a:off x="10515600" y="3447288"/>
            <a:ext cx="1097280" cy="457200"/>
          </a:xfrm>
          <a:prstGeom prst="rect">
            <a:avLst/>
          </a:prstGeom>
          <a:noFill/>
        </p:spPr>
        <p:txBody>
          <a:bodyPr wrap="square">
            <a:spAutoFit/>
          </a:bodyPr>
          <a:lstStyle/>
          <a:p>
            <a:pPr algn="l"/>
            <a:r>
              <a:rPr sz="1000" b="0">
                <a:solidFill>
                  <a:srgbClr val="FFFFFF"/>
                </a:solidFill>
              </a:rPr>
              <a:t>3,336</a:t>
            </a:r>
          </a:p>
        </p:txBody>
      </p:sp>
      <p:sp>
        <p:nvSpPr>
          <p:cNvPr id="38" name="Rectangle 37"/>
          <p:cNvSpPr/>
          <p:nvPr/>
        </p:nvSpPr>
        <p:spPr>
          <a:xfrm>
            <a:off x="6400800" y="3931920"/>
            <a:ext cx="5394960" cy="484632"/>
          </a:xfrm>
          <a:prstGeom prst="rect">
            <a:avLst/>
          </a:prstGeom>
          <a:solidFill>
            <a:srgbClr val="12151F"/>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92240" y="3950208"/>
            <a:ext cx="1097280" cy="457200"/>
          </a:xfrm>
          <a:prstGeom prst="rect">
            <a:avLst/>
          </a:prstGeom>
          <a:noFill/>
        </p:spPr>
        <p:txBody>
          <a:bodyPr wrap="square">
            <a:spAutoFit/>
          </a:bodyPr>
          <a:lstStyle/>
          <a:p>
            <a:pPr algn="l"/>
            <a:r>
              <a:rPr sz="1000" b="0">
                <a:solidFill>
                  <a:srgbClr val="FFFFFF"/>
                </a:solidFill>
              </a:rPr>
              <a:t>Axis Bluechip</a:t>
            </a:r>
          </a:p>
        </p:txBody>
      </p:sp>
      <p:sp>
        <p:nvSpPr>
          <p:cNvPr id="40" name="TextBox 39"/>
          <p:cNvSpPr txBox="1"/>
          <p:nvPr/>
        </p:nvSpPr>
        <p:spPr>
          <a:xfrm>
            <a:off x="8778240" y="3950208"/>
            <a:ext cx="1097280" cy="457200"/>
          </a:xfrm>
          <a:prstGeom prst="rect">
            <a:avLst/>
          </a:prstGeom>
          <a:noFill/>
        </p:spPr>
        <p:txBody>
          <a:bodyPr wrap="square">
            <a:spAutoFit/>
          </a:bodyPr>
          <a:lstStyle/>
          <a:p>
            <a:pPr algn="l"/>
            <a:r>
              <a:rPr sz="1000" b="0">
                <a:solidFill>
                  <a:srgbClr val="FFFFFF"/>
                </a:solidFill>
              </a:rPr>
              <a:t>119092</a:t>
            </a:r>
          </a:p>
        </p:txBody>
      </p:sp>
      <p:sp>
        <p:nvSpPr>
          <p:cNvPr id="41" name="TextBox 40"/>
          <p:cNvSpPr txBox="1"/>
          <p:nvPr/>
        </p:nvSpPr>
        <p:spPr>
          <a:xfrm>
            <a:off x="9509760" y="3950208"/>
            <a:ext cx="1097280" cy="457200"/>
          </a:xfrm>
          <a:prstGeom prst="rect">
            <a:avLst/>
          </a:prstGeom>
          <a:noFill/>
        </p:spPr>
        <p:txBody>
          <a:bodyPr wrap="square">
            <a:spAutoFit/>
          </a:bodyPr>
          <a:lstStyle/>
          <a:p>
            <a:pPr algn="l"/>
            <a:r>
              <a:rPr sz="1000" b="0">
                <a:solidFill>
                  <a:srgbClr val="FFFFFF"/>
                </a:solidFill>
              </a:rPr>
              <a:t>6242.17</a:t>
            </a:r>
          </a:p>
        </p:txBody>
      </p:sp>
      <p:sp>
        <p:nvSpPr>
          <p:cNvPr id="42" name="TextBox 41"/>
          <p:cNvSpPr txBox="1"/>
          <p:nvPr/>
        </p:nvSpPr>
        <p:spPr>
          <a:xfrm>
            <a:off x="10515600" y="3950208"/>
            <a:ext cx="1097280" cy="457200"/>
          </a:xfrm>
          <a:prstGeom prst="rect">
            <a:avLst/>
          </a:prstGeom>
          <a:noFill/>
        </p:spPr>
        <p:txBody>
          <a:bodyPr wrap="square">
            <a:spAutoFit/>
          </a:bodyPr>
          <a:lstStyle/>
          <a:p>
            <a:pPr algn="l"/>
            <a:r>
              <a:rPr sz="1000" b="0">
                <a:solidFill>
                  <a:srgbClr val="FFFFFF"/>
                </a:solidFill>
              </a:rPr>
              <a:t>3,603</a:t>
            </a:r>
          </a:p>
        </p:txBody>
      </p:sp>
      <p:sp>
        <p:nvSpPr>
          <p:cNvPr id="43" name="Rectangle 42"/>
          <p:cNvSpPr/>
          <p:nvPr/>
        </p:nvSpPr>
        <p:spPr>
          <a:xfrm>
            <a:off x="6400800" y="4434840"/>
            <a:ext cx="5394960" cy="484632"/>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92240" y="4453128"/>
            <a:ext cx="1097280" cy="457200"/>
          </a:xfrm>
          <a:prstGeom prst="rect">
            <a:avLst/>
          </a:prstGeom>
          <a:noFill/>
        </p:spPr>
        <p:txBody>
          <a:bodyPr wrap="square">
            <a:spAutoFit/>
          </a:bodyPr>
          <a:lstStyle/>
          <a:p>
            <a:pPr algn="l"/>
            <a:r>
              <a:rPr sz="1000" b="0">
                <a:solidFill>
                  <a:srgbClr val="FFFFFF"/>
                </a:solidFill>
              </a:rPr>
              <a:t>Kotak Bluechip</a:t>
            </a:r>
          </a:p>
        </p:txBody>
      </p:sp>
      <p:sp>
        <p:nvSpPr>
          <p:cNvPr id="45" name="TextBox 44"/>
          <p:cNvSpPr txBox="1"/>
          <p:nvPr/>
        </p:nvSpPr>
        <p:spPr>
          <a:xfrm>
            <a:off x="8778240" y="4453128"/>
            <a:ext cx="1097280" cy="457200"/>
          </a:xfrm>
          <a:prstGeom prst="rect">
            <a:avLst/>
          </a:prstGeom>
          <a:noFill/>
        </p:spPr>
        <p:txBody>
          <a:bodyPr wrap="square">
            <a:spAutoFit/>
          </a:bodyPr>
          <a:lstStyle/>
          <a:p>
            <a:pPr algn="l"/>
            <a:r>
              <a:rPr sz="1000" b="0">
                <a:solidFill>
                  <a:srgbClr val="FFFFFF"/>
                </a:solidFill>
              </a:rPr>
              <a:t>120841</a:t>
            </a:r>
          </a:p>
        </p:txBody>
      </p:sp>
      <p:sp>
        <p:nvSpPr>
          <p:cNvPr id="46" name="TextBox 45"/>
          <p:cNvSpPr txBox="1"/>
          <p:nvPr/>
        </p:nvSpPr>
        <p:spPr>
          <a:xfrm>
            <a:off x="9509760" y="4453128"/>
            <a:ext cx="1097280" cy="457200"/>
          </a:xfrm>
          <a:prstGeom prst="rect">
            <a:avLst/>
          </a:prstGeom>
          <a:noFill/>
        </p:spPr>
        <p:txBody>
          <a:bodyPr wrap="square">
            <a:spAutoFit/>
          </a:bodyPr>
          <a:lstStyle/>
          <a:p>
            <a:pPr algn="l"/>
            <a:r>
              <a:rPr sz="1000" b="0">
                <a:solidFill>
                  <a:srgbClr val="FFFFFF"/>
                </a:solidFill>
              </a:rPr>
              <a:t>249.27</a:t>
            </a:r>
          </a:p>
        </p:txBody>
      </p:sp>
      <p:sp>
        <p:nvSpPr>
          <p:cNvPr id="47" name="TextBox 46"/>
          <p:cNvSpPr txBox="1"/>
          <p:nvPr/>
        </p:nvSpPr>
        <p:spPr>
          <a:xfrm>
            <a:off x="10515600" y="4453128"/>
            <a:ext cx="1097280" cy="457200"/>
          </a:xfrm>
          <a:prstGeom prst="rect">
            <a:avLst/>
          </a:prstGeom>
          <a:noFill/>
        </p:spPr>
        <p:txBody>
          <a:bodyPr wrap="square">
            <a:spAutoFit/>
          </a:bodyPr>
          <a:lstStyle/>
          <a:p>
            <a:pPr algn="l"/>
            <a:r>
              <a:rPr sz="1000" b="0">
                <a:solidFill>
                  <a:srgbClr val="FFFFFF"/>
                </a:solidFill>
              </a:rPr>
              <a:t>3,339</a:t>
            </a:r>
          </a:p>
        </p:txBody>
      </p:sp>
      <p:sp>
        <p:nvSpPr>
          <p:cNvPr id="48" name="TextBox 47"/>
          <p:cNvSpPr txBox="1"/>
          <p:nvPr/>
        </p:nvSpPr>
        <p:spPr>
          <a:xfrm>
            <a:off x="6492240" y="5029200"/>
            <a:ext cx="5212080" cy="457200"/>
          </a:xfrm>
          <a:prstGeom prst="rect">
            <a:avLst/>
          </a:prstGeom>
          <a:noFill/>
        </p:spPr>
        <p:txBody>
          <a:bodyPr wrap="square">
            <a:spAutoFit/>
          </a:bodyPr>
          <a:lstStyle/>
          <a:p>
            <a:pPr algn="l"/>
            <a:r>
              <a:rPr sz="1000" b="0">
                <a:solidFill>
                  <a:srgbClr val="90A4AE"/>
                </a:solidFill>
              </a:rPr>
              <a:t>~3,300 records per scheme  ·  History from launch date  ·  Saved as UTF-8 CSV</a:t>
            </a:r>
          </a:p>
        </p:txBody>
      </p:sp>
      <p:sp>
        <p:nvSpPr>
          <p:cNvPr id="49" name="TextBox 48"/>
          <p:cNvSpPr txBox="1"/>
          <p:nvPr/>
        </p:nvSpPr>
        <p:spPr>
          <a:xfrm>
            <a:off x="11247120" y="6492240"/>
            <a:ext cx="731520" cy="274320"/>
          </a:xfrm>
          <a:prstGeom prst="rect">
            <a:avLst/>
          </a:prstGeom>
          <a:noFill/>
        </p:spPr>
        <p:txBody>
          <a:bodyPr wrap="square">
            <a:spAutoFit/>
          </a:bodyPr>
          <a:lstStyle/>
          <a:p>
            <a:pPr algn="r"/>
            <a:r>
              <a:rPr sz="1000" b="0">
                <a:solidFill>
                  <a:srgbClr val="90A4AE"/>
                </a:solidFill>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9144000" cy="548640"/>
          </a:xfrm>
          <a:prstGeom prst="rect">
            <a:avLst/>
          </a:prstGeom>
          <a:noFill/>
        </p:spPr>
        <p:txBody>
          <a:bodyPr wrap="square">
            <a:spAutoFit/>
          </a:bodyPr>
          <a:lstStyle/>
          <a:p>
            <a:pPr algn="l"/>
            <a:r>
              <a:rPr sz="2800" b="1">
                <a:solidFill>
                  <a:srgbClr val="4FC3F7"/>
                </a:solidFill>
              </a:rPr>
              <a:t>Fund Master — Key Findings</a:t>
            </a:r>
          </a:p>
        </p:txBody>
      </p:sp>
      <p:sp>
        <p:nvSpPr>
          <p:cNvPr id="5" name="Rectangle 4"/>
          <p:cNvSpPr/>
          <p:nvPr/>
        </p:nvSpPr>
        <p:spPr>
          <a:xfrm>
            <a:off x="457200" y="1005840"/>
            <a:ext cx="2560320" cy="13716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2377440" cy="731520"/>
          </a:xfrm>
          <a:prstGeom prst="rect">
            <a:avLst/>
          </a:prstGeom>
          <a:noFill/>
        </p:spPr>
        <p:txBody>
          <a:bodyPr wrap="square">
            <a:spAutoFit/>
          </a:bodyPr>
          <a:lstStyle/>
          <a:p>
            <a:pPr algn="ctr"/>
            <a:r>
              <a:rPr sz="3600" b="1">
                <a:solidFill>
                  <a:srgbClr val="4FC3F7"/>
                </a:solidFill>
              </a:rPr>
              <a:t>10</a:t>
            </a:r>
          </a:p>
        </p:txBody>
      </p:sp>
      <p:sp>
        <p:nvSpPr>
          <p:cNvPr id="7" name="TextBox 6"/>
          <p:cNvSpPr txBox="1"/>
          <p:nvPr/>
        </p:nvSpPr>
        <p:spPr>
          <a:xfrm>
            <a:off x="548640" y="1737360"/>
            <a:ext cx="2377440" cy="457200"/>
          </a:xfrm>
          <a:prstGeom prst="rect">
            <a:avLst/>
          </a:prstGeom>
          <a:noFill/>
        </p:spPr>
        <p:txBody>
          <a:bodyPr wrap="square">
            <a:spAutoFit/>
          </a:bodyPr>
          <a:lstStyle/>
          <a:p>
            <a:pPr algn="ctr"/>
            <a:r>
              <a:rPr sz="1100" b="0">
                <a:solidFill>
                  <a:srgbClr val="90A4AE"/>
                </a:solidFill>
              </a:rPr>
              <a:t>AMCs Covered</a:t>
            </a:r>
          </a:p>
        </p:txBody>
      </p:sp>
      <p:sp>
        <p:nvSpPr>
          <p:cNvPr id="8" name="Rectangle 7"/>
          <p:cNvSpPr/>
          <p:nvPr/>
        </p:nvSpPr>
        <p:spPr>
          <a:xfrm>
            <a:off x="3291840" y="1005840"/>
            <a:ext cx="2560320" cy="13716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051560"/>
            <a:ext cx="2377440" cy="731520"/>
          </a:xfrm>
          <a:prstGeom prst="rect">
            <a:avLst/>
          </a:prstGeom>
          <a:noFill/>
        </p:spPr>
        <p:txBody>
          <a:bodyPr wrap="square">
            <a:spAutoFit/>
          </a:bodyPr>
          <a:lstStyle/>
          <a:p>
            <a:pPr algn="ctr"/>
            <a:r>
              <a:rPr sz="3600" b="1">
                <a:solidFill>
                  <a:srgbClr val="4FC3F7"/>
                </a:solidFill>
              </a:rPr>
              <a:t>5</a:t>
            </a:r>
          </a:p>
        </p:txBody>
      </p:sp>
      <p:sp>
        <p:nvSpPr>
          <p:cNvPr id="10" name="TextBox 9"/>
          <p:cNvSpPr txBox="1"/>
          <p:nvPr/>
        </p:nvSpPr>
        <p:spPr>
          <a:xfrm>
            <a:off x="3383280" y="1737360"/>
            <a:ext cx="2377440" cy="457200"/>
          </a:xfrm>
          <a:prstGeom prst="rect">
            <a:avLst/>
          </a:prstGeom>
          <a:noFill/>
        </p:spPr>
        <p:txBody>
          <a:bodyPr wrap="square">
            <a:spAutoFit/>
          </a:bodyPr>
          <a:lstStyle/>
          <a:p>
            <a:pPr algn="ctr"/>
            <a:r>
              <a:rPr sz="1100" b="0">
                <a:solidFill>
                  <a:srgbClr val="90A4AE"/>
                </a:solidFill>
              </a:rPr>
              <a:t>Categories</a:t>
            </a:r>
          </a:p>
        </p:txBody>
      </p:sp>
      <p:sp>
        <p:nvSpPr>
          <p:cNvPr id="11" name="Rectangle 10"/>
          <p:cNvSpPr/>
          <p:nvPr/>
        </p:nvSpPr>
        <p:spPr>
          <a:xfrm>
            <a:off x="6126480" y="1005840"/>
            <a:ext cx="2560320" cy="13716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051560"/>
            <a:ext cx="2377440" cy="731520"/>
          </a:xfrm>
          <a:prstGeom prst="rect">
            <a:avLst/>
          </a:prstGeom>
          <a:noFill/>
        </p:spPr>
        <p:txBody>
          <a:bodyPr wrap="square">
            <a:spAutoFit/>
          </a:bodyPr>
          <a:lstStyle/>
          <a:p>
            <a:pPr algn="ctr"/>
            <a:r>
              <a:rPr sz="3600" b="1">
                <a:solidFill>
                  <a:srgbClr val="4FC3F7"/>
                </a:solidFill>
              </a:rPr>
              <a:t>8</a:t>
            </a:r>
          </a:p>
        </p:txBody>
      </p:sp>
      <p:sp>
        <p:nvSpPr>
          <p:cNvPr id="13" name="TextBox 12"/>
          <p:cNvSpPr txBox="1"/>
          <p:nvPr/>
        </p:nvSpPr>
        <p:spPr>
          <a:xfrm>
            <a:off x="6217920" y="1737360"/>
            <a:ext cx="2377440" cy="457200"/>
          </a:xfrm>
          <a:prstGeom prst="rect">
            <a:avLst/>
          </a:prstGeom>
          <a:noFill/>
        </p:spPr>
        <p:txBody>
          <a:bodyPr wrap="square">
            <a:spAutoFit/>
          </a:bodyPr>
          <a:lstStyle/>
          <a:p>
            <a:pPr algn="ctr"/>
            <a:r>
              <a:rPr sz="1100" b="0">
                <a:solidFill>
                  <a:srgbClr val="90A4AE"/>
                </a:solidFill>
              </a:rPr>
              <a:t>Sub-categories</a:t>
            </a:r>
          </a:p>
        </p:txBody>
      </p:sp>
      <p:sp>
        <p:nvSpPr>
          <p:cNvPr id="14" name="Rectangle 13"/>
          <p:cNvSpPr/>
          <p:nvPr/>
        </p:nvSpPr>
        <p:spPr>
          <a:xfrm>
            <a:off x="8961120" y="1005840"/>
            <a:ext cx="2560320" cy="13716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0" y="1051560"/>
            <a:ext cx="2377440" cy="731520"/>
          </a:xfrm>
          <a:prstGeom prst="rect">
            <a:avLst/>
          </a:prstGeom>
          <a:noFill/>
        </p:spPr>
        <p:txBody>
          <a:bodyPr wrap="square">
            <a:spAutoFit/>
          </a:bodyPr>
          <a:lstStyle/>
          <a:p>
            <a:pPr algn="ctr"/>
            <a:r>
              <a:rPr sz="3600" b="1">
                <a:solidFill>
                  <a:srgbClr val="4FC3F7"/>
                </a:solidFill>
              </a:rPr>
              <a:t>5</a:t>
            </a:r>
          </a:p>
        </p:txBody>
      </p:sp>
      <p:sp>
        <p:nvSpPr>
          <p:cNvPr id="16" name="TextBox 15"/>
          <p:cNvSpPr txBox="1"/>
          <p:nvPr/>
        </p:nvSpPr>
        <p:spPr>
          <a:xfrm>
            <a:off x="9052560" y="1737360"/>
            <a:ext cx="2377440" cy="457200"/>
          </a:xfrm>
          <a:prstGeom prst="rect">
            <a:avLst/>
          </a:prstGeom>
          <a:noFill/>
        </p:spPr>
        <p:txBody>
          <a:bodyPr wrap="square">
            <a:spAutoFit/>
          </a:bodyPr>
          <a:lstStyle/>
          <a:p>
            <a:pPr algn="ctr"/>
            <a:r>
              <a:rPr sz="1100" b="0">
                <a:solidFill>
                  <a:srgbClr val="90A4AE"/>
                </a:solidFill>
              </a:rPr>
              <a:t>Risk Grades</a:t>
            </a:r>
          </a:p>
        </p:txBody>
      </p:sp>
      <p:sp>
        <p:nvSpPr>
          <p:cNvPr id="17" name="Rectangle 16"/>
          <p:cNvSpPr/>
          <p:nvPr/>
        </p:nvSpPr>
        <p:spPr>
          <a:xfrm>
            <a:off x="457200" y="2651760"/>
            <a:ext cx="5394960" cy="301752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743200"/>
            <a:ext cx="5029200" cy="365760"/>
          </a:xfrm>
          <a:prstGeom prst="rect">
            <a:avLst/>
          </a:prstGeom>
          <a:noFill/>
        </p:spPr>
        <p:txBody>
          <a:bodyPr wrap="square">
            <a:spAutoFit/>
          </a:bodyPr>
          <a:lstStyle/>
          <a:p>
            <a:pPr algn="l"/>
            <a:r>
              <a:rPr sz="1300" b="1">
                <a:solidFill>
                  <a:srgbClr val="4FC3F7"/>
                </a:solidFill>
              </a:rPr>
              <a:t>Fund Houses</a:t>
            </a:r>
          </a:p>
        </p:txBody>
      </p:sp>
      <p:sp>
        <p:nvSpPr>
          <p:cNvPr id="19" name="TextBox 18"/>
          <p:cNvSpPr txBox="1"/>
          <p:nvPr/>
        </p:nvSpPr>
        <p:spPr>
          <a:xfrm>
            <a:off x="640080" y="3200400"/>
            <a:ext cx="2468880" cy="402336"/>
          </a:xfrm>
          <a:prstGeom prst="rect">
            <a:avLst/>
          </a:prstGeom>
          <a:noFill/>
        </p:spPr>
        <p:txBody>
          <a:bodyPr wrap="square">
            <a:spAutoFit/>
          </a:bodyPr>
          <a:lstStyle/>
          <a:p>
            <a:pPr algn="l"/>
            <a:r>
              <a:rPr sz="1100" b="0">
                <a:solidFill>
                  <a:srgbClr val="FFFFFF"/>
                </a:solidFill>
              </a:rPr>
              <a:t>→  HDFC Mutual Fund</a:t>
            </a:r>
          </a:p>
        </p:txBody>
      </p:sp>
      <p:sp>
        <p:nvSpPr>
          <p:cNvPr id="20" name="TextBox 19"/>
          <p:cNvSpPr txBox="1"/>
          <p:nvPr/>
        </p:nvSpPr>
        <p:spPr>
          <a:xfrm>
            <a:off x="640080" y="3639312"/>
            <a:ext cx="2468880" cy="402336"/>
          </a:xfrm>
          <a:prstGeom prst="rect">
            <a:avLst/>
          </a:prstGeom>
          <a:noFill/>
        </p:spPr>
        <p:txBody>
          <a:bodyPr wrap="square">
            <a:spAutoFit/>
          </a:bodyPr>
          <a:lstStyle/>
          <a:p>
            <a:pPr algn="l"/>
            <a:r>
              <a:rPr sz="1100" b="0">
                <a:solidFill>
                  <a:srgbClr val="FFFFFF"/>
                </a:solidFill>
              </a:rPr>
              <a:t>→  SBI Mutual Fund</a:t>
            </a:r>
          </a:p>
        </p:txBody>
      </p:sp>
      <p:sp>
        <p:nvSpPr>
          <p:cNvPr id="21" name="TextBox 20"/>
          <p:cNvSpPr txBox="1"/>
          <p:nvPr/>
        </p:nvSpPr>
        <p:spPr>
          <a:xfrm>
            <a:off x="640080" y="4078224"/>
            <a:ext cx="2468880" cy="402336"/>
          </a:xfrm>
          <a:prstGeom prst="rect">
            <a:avLst/>
          </a:prstGeom>
          <a:noFill/>
        </p:spPr>
        <p:txBody>
          <a:bodyPr wrap="square">
            <a:spAutoFit/>
          </a:bodyPr>
          <a:lstStyle/>
          <a:p>
            <a:pPr algn="l"/>
            <a:r>
              <a:rPr sz="1100" b="0">
                <a:solidFill>
                  <a:srgbClr val="FFFFFF"/>
                </a:solidFill>
              </a:rPr>
              <a:t>→  ICICI Prudential</a:t>
            </a:r>
          </a:p>
        </p:txBody>
      </p:sp>
      <p:sp>
        <p:nvSpPr>
          <p:cNvPr id="22" name="TextBox 21"/>
          <p:cNvSpPr txBox="1"/>
          <p:nvPr/>
        </p:nvSpPr>
        <p:spPr>
          <a:xfrm>
            <a:off x="640080" y="4517136"/>
            <a:ext cx="2468880" cy="402336"/>
          </a:xfrm>
          <a:prstGeom prst="rect">
            <a:avLst/>
          </a:prstGeom>
          <a:noFill/>
        </p:spPr>
        <p:txBody>
          <a:bodyPr wrap="square">
            <a:spAutoFit/>
          </a:bodyPr>
          <a:lstStyle/>
          <a:p>
            <a:pPr algn="l"/>
            <a:r>
              <a:rPr sz="1100" b="0">
                <a:solidFill>
                  <a:srgbClr val="FFFFFF"/>
                </a:solidFill>
              </a:rPr>
              <a:t>→  Nippon India</a:t>
            </a:r>
          </a:p>
        </p:txBody>
      </p:sp>
      <p:sp>
        <p:nvSpPr>
          <p:cNvPr id="23" name="TextBox 22"/>
          <p:cNvSpPr txBox="1"/>
          <p:nvPr/>
        </p:nvSpPr>
        <p:spPr>
          <a:xfrm>
            <a:off x="640080" y="4956048"/>
            <a:ext cx="2468880" cy="402336"/>
          </a:xfrm>
          <a:prstGeom prst="rect">
            <a:avLst/>
          </a:prstGeom>
          <a:noFill/>
        </p:spPr>
        <p:txBody>
          <a:bodyPr wrap="square">
            <a:spAutoFit/>
          </a:bodyPr>
          <a:lstStyle/>
          <a:p>
            <a:pPr algn="l"/>
            <a:r>
              <a:rPr sz="1100" b="0">
                <a:solidFill>
                  <a:srgbClr val="FFFFFF"/>
                </a:solidFill>
              </a:rPr>
              <a:t>→  Axis Mutual Fund</a:t>
            </a:r>
          </a:p>
        </p:txBody>
      </p:sp>
      <p:sp>
        <p:nvSpPr>
          <p:cNvPr id="24" name="TextBox 23"/>
          <p:cNvSpPr txBox="1"/>
          <p:nvPr/>
        </p:nvSpPr>
        <p:spPr>
          <a:xfrm>
            <a:off x="3291839" y="3200400"/>
            <a:ext cx="2468880" cy="402336"/>
          </a:xfrm>
          <a:prstGeom prst="rect">
            <a:avLst/>
          </a:prstGeom>
          <a:noFill/>
        </p:spPr>
        <p:txBody>
          <a:bodyPr wrap="square">
            <a:spAutoFit/>
          </a:bodyPr>
          <a:lstStyle/>
          <a:p>
            <a:pPr algn="l"/>
            <a:r>
              <a:rPr sz="1100" b="0">
                <a:solidFill>
                  <a:srgbClr val="FFFFFF"/>
                </a:solidFill>
              </a:rPr>
              <a:t>→  Kotak Mahindra</a:t>
            </a:r>
          </a:p>
        </p:txBody>
      </p:sp>
      <p:sp>
        <p:nvSpPr>
          <p:cNvPr id="25" name="TextBox 24"/>
          <p:cNvSpPr txBox="1"/>
          <p:nvPr/>
        </p:nvSpPr>
        <p:spPr>
          <a:xfrm>
            <a:off x="3291839" y="3639312"/>
            <a:ext cx="2468880" cy="402336"/>
          </a:xfrm>
          <a:prstGeom prst="rect">
            <a:avLst/>
          </a:prstGeom>
          <a:noFill/>
        </p:spPr>
        <p:txBody>
          <a:bodyPr wrap="square">
            <a:spAutoFit/>
          </a:bodyPr>
          <a:lstStyle/>
          <a:p>
            <a:pPr algn="l"/>
            <a:r>
              <a:rPr sz="1100" b="0">
                <a:solidFill>
                  <a:srgbClr val="FFFFFF"/>
                </a:solidFill>
              </a:rPr>
              <a:t>→  Mirae Asset</a:t>
            </a:r>
          </a:p>
        </p:txBody>
      </p:sp>
      <p:sp>
        <p:nvSpPr>
          <p:cNvPr id="26" name="TextBox 25"/>
          <p:cNvSpPr txBox="1"/>
          <p:nvPr/>
        </p:nvSpPr>
        <p:spPr>
          <a:xfrm>
            <a:off x="3291839" y="4078224"/>
            <a:ext cx="2468880" cy="402336"/>
          </a:xfrm>
          <a:prstGeom prst="rect">
            <a:avLst/>
          </a:prstGeom>
          <a:noFill/>
        </p:spPr>
        <p:txBody>
          <a:bodyPr wrap="square">
            <a:spAutoFit/>
          </a:bodyPr>
          <a:lstStyle/>
          <a:p>
            <a:pPr algn="l"/>
            <a:r>
              <a:rPr sz="1100" b="0">
                <a:solidFill>
                  <a:srgbClr val="FFFFFF"/>
                </a:solidFill>
              </a:rPr>
              <a:t>→  DSP Mutual Fund</a:t>
            </a:r>
          </a:p>
        </p:txBody>
      </p:sp>
      <p:sp>
        <p:nvSpPr>
          <p:cNvPr id="27" name="TextBox 26"/>
          <p:cNvSpPr txBox="1"/>
          <p:nvPr/>
        </p:nvSpPr>
        <p:spPr>
          <a:xfrm>
            <a:off x="3291839" y="4517136"/>
            <a:ext cx="2468880" cy="402336"/>
          </a:xfrm>
          <a:prstGeom prst="rect">
            <a:avLst/>
          </a:prstGeom>
          <a:noFill/>
        </p:spPr>
        <p:txBody>
          <a:bodyPr wrap="square">
            <a:spAutoFit/>
          </a:bodyPr>
          <a:lstStyle/>
          <a:p>
            <a:pPr algn="l"/>
            <a:r>
              <a:rPr sz="1100" b="0">
                <a:solidFill>
                  <a:srgbClr val="FFFFFF"/>
                </a:solidFill>
              </a:rPr>
              <a:t>→  Franklin Templeton</a:t>
            </a:r>
          </a:p>
        </p:txBody>
      </p:sp>
      <p:sp>
        <p:nvSpPr>
          <p:cNvPr id="28" name="TextBox 27"/>
          <p:cNvSpPr txBox="1"/>
          <p:nvPr/>
        </p:nvSpPr>
        <p:spPr>
          <a:xfrm>
            <a:off x="3291839" y="4956048"/>
            <a:ext cx="2468880" cy="402336"/>
          </a:xfrm>
          <a:prstGeom prst="rect">
            <a:avLst/>
          </a:prstGeom>
          <a:noFill/>
        </p:spPr>
        <p:txBody>
          <a:bodyPr wrap="square">
            <a:spAutoFit/>
          </a:bodyPr>
          <a:lstStyle/>
          <a:p>
            <a:pPr algn="l"/>
            <a:r>
              <a:rPr sz="1100" b="0">
                <a:solidFill>
                  <a:srgbClr val="FFFFFF"/>
                </a:solidFill>
              </a:rPr>
              <a:t>→  UTI Mutual Fund</a:t>
            </a:r>
          </a:p>
        </p:txBody>
      </p:sp>
      <p:sp>
        <p:nvSpPr>
          <p:cNvPr id="29" name="Rectangle 28"/>
          <p:cNvSpPr/>
          <p:nvPr/>
        </p:nvSpPr>
        <p:spPr>
          <a:xfrm>
            <a:off x="6126480" y="2651760"/>
            <a:ext cx="5577840" cy="301752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2743200"/>
            <a:ext cx="5212080" cy="365760"/>
          </a:xfrm>
          <a:prstGeom prst="rect">
            <a:avLst/>
          </a:prstGeom>
          <a:noFill/>
        </p:spPr>
        <p:txBody>
          <a:bodyPr wrap="square">
            <a:spAutoFit/>
          </a:bodyPr>
          <a:lstStyle/>
          <a:p>
            <a:pPr algn="l"/>
            <a:r>
              <a:rPr sz="1300" b="1">
                <a:solidFill>
                  <a:srgbClr val="4FC3F7"/>
                </a:solidFill>
              </a:rPr>
              <a:t>AMFI Scheme Code Structure</a:t>
            </a:r>
          </a:p>
        </p:txBody>
      </p:sp>
      <p:sp>
        <p:nvSpPr>
          <p:cNvPr id="31" name="TextBox 30"/>
          <p:cNvSpPr txBox="1"/>
          <p:nvPr/>
        </p:nvSpPr>
        <p:spPr>
          <a:xfrm>
            <a:off x="6309360" y="3200400"/>
            <a:ext cx="5212080" cy="2286000"/>
          </a:xfrm>
          <a:prstGeom prst="rect">
            <a:avLst/>
          </a:prstGeom>
          <a:noFill/>
        </p:spPr>
        <p:txBody>
          <a:bodyPr wrap="square">
            <a:spAutoFit/>
          </a:bodyPr>
          <a:lstStyle/>
          <a:p>
            <a:pPr algn="l"/>
            <a:r>
              <a:rPr sz="1100" b="0">
                <a:solidFill>
                  <a:srgbClr val="FFFFFF"/>
                </a:solidFill>
              </a:rPr>
              <a:t>Each scheme variant gets its own unique 6-digit AMFI code:
→  Direct Growth
→  Regular Growth
→  Direct IDCW
→  Regular IDCW
So one fund can have 4+ codes. Always verify scheme_name
from the API response — not just the label used to fetch.</a:t>
            </a:r>
          </a:p>
        </p:txBody>
      </p:sp>
      <p:sp>
        <p:nvSpPr>
          <p:cNvPr id="32" name="TextBox 31"/>
          <p:cNvSpPr txBox="1"/>
          <p:nvPr/>
        </p:nvSpPr>
        <p:spPr>
          <a:xfrm>
            <a:off x="11247120" y="6492240"/>
            <a:ext cx="731520" cy="274320"/>
          </a:xfrm>
          <a:prstGeom prst="rect">
            <a:avLst/>
          </a:prstGeom>
          <a:noFill/>
        </p:spPr>
        <p:txBody>
          <a:bodyPr wrap="square">
            <a:spAutoFit/>
          </a:bodyPr>
          <a:lstStyle/>
          <a:p>
            <a:pPr algn="r"/>
            <a:r>
              <a:rPr sz="1000" b="0">
                <a:solidFill>
                  <a:srgbClr val="90A4AE"/>
                </a:solidFill>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9144000" cy="548640"/>
          </a:xfrm>
          <a:prstGeom prst="rect">
            <a:avLst/>
          </a:prstGeom>
          <a:noFill/>
        </p:spPr>
        <p:txBody>
          <a:bodyPr wrap="square">
            <a:spAutoFit/>
          </a:bodyPr>
          <a:lstStyle/>
          <a:p>
            <a:pPr algn="l"/>
            <a:r>
              <a:rPr sz="2800" b="1">
                <a:solidFill>
                  <a:srgbClr val="4FC3F7"/>
                </a:solidFill>
              </a:rPr>
              <a:t>Data Quality Summary</a:t>
            </a:r>
          </a:p>
        </p:txBody>
      </p:sp>
      <p:sp>
        <p:nvSpPr>
          <p:cNvPr id="5" name="Rectangle 4"/>
          <p:cNvSpPr/>
          <p:nvPr/>
        </p:nvSpPr>
        <p:spPr>
          <a:xfrm>
            <a:off x="457200" y="1005840"/>
            <a:ext cx="2560320" cy="22860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2377440" cy="822960"/>
          </a:xfrm>
          <a:prstGeom prst="rect">
            <a:avLst/>
          </a:prstGeom>
          <a:noFill/>
        </p:spPr>
        <p:txBody>
          <a:bodyPr wrap="square">
            <a:spAutoFit/>
          </a:bodyPr>
          <a:lstStyle/>
          <a:p>
            <a:pPr algn="ctr"/>
            <a:r>
              <a:rPr sz="4000" b="1">
                <a:solidFill>
                  <a:srgbClr val="4FC3F7"/>
                </a:solidFill>
              </a:rPr>
              <a:t>100%</a:t>
            </a:r>
          </a:p>
        </p:txBody>
      </p:sp>
      <p:sp>
        <p:nvSpPr>
          <p:cNvPr id="7" name="TextBox 6"/>
          <p:cNvSpPr txBox="1"/>
          <p:nvPr/>
        </p:nvSpPr>
        <p:spPr>
          <a:xfrm>
            <a:off x="548640" y="1920240"/>
            <a:ext cx="2377440" cy="365760"/>
          </a:xfrm>
          <a:prstGeom prst="rect">
            <a:avLst/>
          </a:prstGeom>
          <a:noFill/>
        </p:spPr>
        <p:txBody>
          <a:bodyPr wrap="square">
            <a:spAutoFit/>
          </a:bodyPr>
          <a:lstStyle/>
          <a:p>
            <a:pPr algn="ctr"/>
            <a:r>
              <a:rPr sz="1100" b="1">
                <a:solidFill>
                  <a:srgbClr val="FFFFFF"/>
                </a:solidFill>
              </a:rPr>
              <a:t>AMFI Code Coverage</a:t>
            </a:r>
          </a:p>
        </p:txBody>
      </p:sp>
      <p:sp>
        <p:nvSpPr>
          <p:cNvPr id="8" name="TextBox 7"/>
          <p:cNvSpPr txBox="1"/>
          <p:nvPr/>
        </p:nvSpPr>
        <p:spPr>
          <a:xfrm>
            <a:off x="548640" y="2331720"/>
            <a:ext cx="2377440" cy="731520"/>
          </a:xfrm>
          <a:prstGeom prst="rect">
            <a:avLst/>
          </a:prstGeom>
          <a:noFill/>
        </p:spPr>
        <p:txBody>
          <a:bodyPr wrap="square">
            <a:spAutoFit/>
          </a:bodyPr>
          <a:lstStyle/>
          <a:p>
            <a:pPr algn="ctr"/>
            <a:r>
              <a:rPr sz="1000" b="0">
                <a:solidFill>
                  <a:srgbClr val="90A4AE"/>
                </a:solidFill>
              </a:rPr>
              <a:t>All 20 master codes present
in nav_history</a:t>
            </a:r>
          </a:p>
        </p:txBody>
      </p:sp>
      <p:sp>
        <p:nvSpPr>
          <p:cNvPr id="9" name="Rectangle 8"/>
          <p:cNvSpPr/>
          <p:nvPr/>
        </p:nvSpPr>
        <p:spPr>
          <a:xfrm>
            <a:off x="3291840" y="1005840"/>
            <a:ext cx="2560320" cy="22860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097280"/>
            <a:ext cx="2377440" cy="822960"/>
          </a:xfrm>
          <a:prstGeom prst="rect">
            <a:avLst/>
          </a:prstGeom>
          <a:noFill/>
        </p:spPr>
        <p:txBody>
          <a:bodyPr wrap="square">
            <a:spAutoFit/>
          </a:bodyPr>
          <a:lstStyle/>
          <a:p>
            <a:pPr algn="ctr"/>
            <a:r>
              <a:rPr sz="4000" b="1">
                <a:solidFill>
                  <a:srgbClr val="4FC3F7"/>
                </a:solidFill>
              </a:rPr>
              <a:t>0</a:t>
            </a:r>
          </a:p>
        </p:txBody>
      </p:sp>
      <p:sp>
        <p:nvSpPr>
          <p:cNvPr id="11" name="TextBox 10"/>
          <p:cNvSpPr txBox="1"/>
          <p:nvPr/>
        </p:nvSpPr>
        <p:spPr>
          <a:xfrm>
            <a:off x="3383280" y="1920240"/>
            <a:ext cx="2377440" cy="365760"/>
          </a:xfrm>
          <a:prstGeom prst="rect">
            <a:avLst/>
          </a:prstGeom>
          <a:noFill/>
        </p:spPr>
        <p:txBody>
          <a:bodyPr wrap="square">
            <a:spAutoFit/>
          </a:bodyPr>
          <a:lstStyle/>
          <a:p>
            <a:pPr algn="ctr"/>
            <a:r>
              <a:rPr sz="1100" b="1">
                <a:solidFill>
                  <a:srgbClr val="FFFFFF"/>
                </a:solidFill>
              </a:rPr>
              <a:t>Null Values</a:t>
            </a:r>
          </a:p>
        </p:txBody>
      </p:sp>
      <p:sp>
        <p:nvSpPr>
          <p:cNvPr id="12" name="TextBox 11"/>
          <p:cNvSpPr txBox="1"/>
          <p:nvPr/>
        </p:nvSpPr>
        <p:spPr>
          <a:xfrm>
            <a:off x="3383280" y="2331720"/>
            <a:ext cx="2377440" cy="731520"/>
          </a:xfrm>
          <a:prstGeom prst="rect">
            <a:avLst/>
          </a:prstGeom>
          <a:noFill/>
        </p:spPr>
        <p:txBody>
          <a:bodyPr wrap="square">
            <a:spAutoFit/>
          </a:bodyPr>
          <a:lstStyle/>
          <a:p>
            <a:pPr algn="ctr"/>
            <a:r>
              <a:rPr sz="1000" b="0">
                <a:solidFill>
                  <a:srgbClr val="90A4AE"/>
                </a:solidFill>
              </a:rPr>
              <a:t>Across all 10 structured
datasets</a:t>
            </a:r>
          </a:p>
        </p:txBody>
      </p:sp>
      <p:sp>
        <p:nvSpPr>
          <p:cNvPr id="13" name="Rectangle 12"/>
          <p:cNvSpPr/>
          <p:nvPr/>
        </p:nvSpPr>
        <p:spPr>
          <a:xfrm>
            <a:off x="6126480" y="1005840"/>
            <a:ext cx="2560320" cy="22860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097280"/>
            <a:ext cx="2377440" cy="822960"/>
          </a:xfrm>
          <a:prstGeom prst="rect">
            <a:avLst/>
          </a:prstGeom>
          <a:noFill/>
        </p:spPr>
        <p:txBody>
          <a:bodyPr wrap="square">
            <a:spAutoFit/>
          </a:bodyPr>
          <a:lstStyle/>
          <a:p>
            <a:pPr algn="ctr"/>
            <a:r>
              <a:rPr sz="4000" b="1">
                <a:solidFill>
                  <a:srgbClr val="4FC3F7"/>
                </a:solidFill>
              </a:rPr>
              <a:t>0</a:t>
            </a:r>
          </a:p>
        </p:txBody>
      </p:sp>
      <p:sp>
        <p:nvSpPr>
          <p:cNvPr id="15" name="TextBox 14"/>
          <p:cNvSpPr txBox="1"/>
          <p:nvPr/>
        </p:nvSpPr>
        <p:spPr>
          <a:xfrm>
            <a:off x="6217920" y="1920240"/>
            <a:ext cx="2377440" cy="365760"/>
          </a:xfrm>
          <a:prstGeom prst="rect">
            <a:avLst/>
          </a:prstGeom>
          <a:noFill/>
        </p:spPr>
        <p:txBody>
          <a:bodyPr wrap="square">
            <a:spAutoFit/>
          </a:bodyPr>
          <a:lstStyle/>
          <a:p>
            <a:pPr algn="ctr"/>
            <a:r>
              <a:rPr sz="1100" b="1">
                <a:solidFill>
                  <a:srgbClr val="FFFFFF"/>
                </a:solidFill>
              </a:rPr>
              <a:t>Duplicate Rows</a:t>
            </a:r>
          </a:p>
        </p:txBody>
      </p:sp>
      <p:sp>
        <p:nvSpPr>
          <p:cNvPr id="16" name="TextBox 15"/>
          <p:cNvSpPr txBox="1"/>
          <p:nvPr/>
        </p:nvSpPr>
        <p:spPr>
          <a:xfrm>
            <a:off x="6217920" y="2331720"/>
            <a:ext cx="2377440" cy="731520"/>
          </a:xfrm>
          <a:prstGeom prst="rect">
            <a:avLst/>
          </a:prstGeom>
          <a:noFill/>
        </p:spPr>
        <p:txBody>
          <a:bodyPr wrap="square">
            <a:spAutoFit/>
          </a:bodyPr>
          <a:lstStyle/>
          <a:p>
            <a:pPr algn="ctr"/>
            <a:r>
              <a:rPr sz="1000" b="0">
                <a:solidFill>
                  <a:srgbClr val="90A4AE"/>
                </a:solidFill>
              </a:rPr>
              <a:t>No duplicate scheme_code
+ date combinations</a:t>
            </a:r>
          </a:p>
        </p:txBody>
      </p:sp>
      <p:sp>
        <p:nvSpPr>
          <p:cNvPr id="17" name="Rectangle 16"/>
          <p:cNvSpPr/>
          <p:nvPr/>
        </p:nvSpPr>
        <p:spPr>
          <a:xfrm>
            <a:off x="8961120" y="1005840"/>
            <a:ext cx="2560320" cy="22860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1097280"/>
            <a:ext cx="2377440" cy="822960"/>
          </a:xfrm>
          <a:prstGeom prst="rect">
            <a:avLst/>
          </a:prstGeom>
          <a:noFill/>
        </p:spPr>
        <p:txBody>
          <a:bodyPr wrap="square">
            <a:spAutoFit/>
          </a:bodyPr>
          <a:lstStyle/>
          <a:p>
            <a:pPr algn="ctr"/>
            <a:r>
              <a:rPr sz="4000" b="1">
                <a:solidFill>
                  <a:srgbClr val="4FC3F7"/>
                </a:solidFill>
              </a:rPr>
              <a:t>16</a:t>
            </a:r>
          </a:p>
        </p:txBody>
      </p:sp>
      <p:sp>
        <p:nvSpPr>
          <p:cNvPr id="19" name="TextBox 18"/>
          <p:cNvSpPr txBox="1"/>
          <p:nvPr/>
        </p:nvSpPr>
        <p:spPr>
          <a:xfrm>
            <a:off x="9052560" y="1920240"/>
            <a:ext cx="2377440" cy="365760"/>
          </a:xfrm>
          <a:prstGeom prst="rect">
            <a:avLst/>
          </a:prstGeom>
          <a:noFill/>
        </p:spPr>
        <p:txBody>
          <a:bodyPr wrap="square">
            <a:spAutoFit/>
          </a:bodyPr>
          <a:lstStyle/>
          <a:p>
            <a:pPr algn="ctr"/>
            <a:r>
              <a:rPr sz="1100" b="1">
                <a:solidFill>
                  <a:srgbClr val="FFFFFF"/>
                </a:solidFill>
              </a:rPr>
              <a:t>Total CSV Files</a:t>
            </a:r>
          </a:p>
        </p:txBody>
      </p:sp>
      <p:sp>
        <p:nvSpPr>
          <p:cNvPr id="20" name="TextBox 19"/>
          <p:cNvSpPr txBox="1"/>
          <p:nvPr/>
        </p:nvSpPr>
        <p:spPr>
          <a:xfrm>
            <a:off x="9052560" y="2331720"/>
            <a:ext cx="2377440" cy="731520"/>
          </a:xfrm>
          <a:prstGeom prst="rect">
            <a:avLst/>
          </a:prstGeom>
          <a:noFill/>
        </p:spPr>
        <p:txBody>
          <a:bodyPr wrap="square">
            <a:spAutoFit/>
          </a:bodyPr>
          <a:lstStyle/>
          <a:p>
            <a:pPr algn="ctr"/>
            <a:r>
              <a:rPr sz="1000" b="0">
                <a:solidFill>
                  <a:srgbClr val="90A4AE"/>
                </a:solidFill>
              </a:rPr>
              <a:t>10 synthetic + 6 live
NAV datasets</a:t>
            </a:r>
          </a:p>
        </p:txBody>
      </p:sp>
      <p:sp>
        <p:nvSpPr>
          <p:cNvPr id="21" name="Rectangle 20"/>
          <p:cNvSpPr/>
          <p:nvPr/>
        </p:nvSpPr>
        <p:spPr>
          <a:xfrm>
            <a:off x="457200" y="3566160"/>
            <a:ext cx="11247120" cy="22860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657600"/>
            <a:ext cx="10881360" cy="365760"/>
          </a:xfrm>
          <a:prstGeom prst="rect">
            <a:avLst/>
          </a:prstGeom>
          <a:noFill/>
        </p:spPr>
        <p:txBody>
          <a:bodyPr wrap="square">
            <a:spAutoFit/>
          </a:bodyPr>
          <a:lstStyle/>
          <a:p>
            <a:pPr algn="l"/>
            <a:r>
              <a:rPr sz="1300" b="1">
                <a:solidFill>
                  <a:srgbClr val="FFA726"/>
                </a:solidFill>
              </a:rPr>
              <a:t>Anomaly Noted — Live NAV API</a:t>
            </a:r>
          </a:p>
        </p:txBody>
      </p:sp>
      <p:sp>
        <p:nvSpPr>
          <p:cNvPr id="23" name="TextBox 22"/>
          <p:cNvSpPr txBox="1"/>
          <p:nvPr/>
        </p:nvSpPr>
        <p:spPr>
          <a:xfrm>
            <a:off x="640080" y="4114800"/>
            <a:ext cx="10881360" cy="1554480"/>
          </a:xfrm>
          <a:prstGeom prst="rect">
            <a:avLst/>
          </a:prstGeom>
          <a:noFill/>
        </p:spPr>
        <p:txBody>
          <a:bodyPr wrap="square">
            <a:spAutoFit/>
          </a:bodyPr>
          <a:lstStyle/>
          <a:p>
            <a:pPr algn="l"/>
            <a:r>
              <a:rPr sz="1100" b="0">
                <a:solidFill>
                  <a:srgbClr val="FFFFFF"/>
                </a:solidFill>
              </a:rPr>
              <a:t>The mfapi.in API returns scheme names that don't always match the label used to query.
For example, code 119092 (queried as 'Axis Bluechip') returns 'HDFC Money Market Fund' in the response metadata.
This is expected — AMFI codes are variant-specific, not fund-name-specific. Each Direct/Regular × Growth/IDCW
combination gets its own code. Always use the scheme_name field from the API response as the source of truth.</a:t>
            </a:r>
          </a:p>
        </p:txBody>
      </p:sp>
      <p:sp>
        <p:nvSpPr>
          <p:cNvPr id="24" name="TextBox 23"/>
          <p:cNvSpPr txBox="1"/>
          <p:nvPr/>
        </p:nvSpPr>
        <p:spPr>
          <a:xfrm>
            <a:off x="11247120" y="6492240"/>
            <a:ext cx="731520" cy="274320"/>
          </a:xfrm>
          <a:prstGeom prst="rect">
            <a:avLst/>
          </a:prstGeom>
          <a:noFill/>
        </p:spPr>
        <p:txBody>
          <a:bodyPr wrap="square">
            <a:spAutoFit/>
          </a:bodyPr>
          <a:lstStyle/>
          <a:p>
            <a:pPr algn="r"/>
            <a:r>
              <a:rPr sz="1000" b="0">
                <a:solidFill>
                  <a:srgbClr val="90A4AE"/>
                </a:solidFill>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9144000" cy="548640"/>
          </a:xfrm>
          <a:prstGeom prst="rect">
            <a:avLst/>
          </a:prstGeom>
          <a:noFill/>
        </p:spPr>
        <p:txBody>
          <a:bodyPr wrap="square">
            <a:spAutoFit/>
          </a:bodyPr>
          <a:lstStyle/>
          <a:p>
            <a:pPr algn="l"/>
            <a:r>
              <a:rPr sz="2800" b="1">
                <a:solidFill>
                  <a:srgbClr val="4FC3F7"/>
                </a:solidFill>
              </a:rPr>
              <a:t>Tech Stack</a:t>
            </a:r>
          </a:p>
        </p:txBody>
      </p:sp>
      <p:sp>
        <p:nvSpPr>
          <p:cNvPr id="5" name="Rectangle 4"/>
          <p:cNvSpPr/>
          <p:nvPr/>
        </p:nvSpPr>
        <p:spPr>
          <a:xfrm>
            <a:off x="457200" y="1097280"/>
            <a:ext cx="3566160" cy="36576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88720"/>
            <a:ext cx="3200400" cy="365760"/>
          </a:xfrm>
          <a:prstGeom prst="rect">
            <a:avLst/>
          </a:prstGeom>
          <a:noFill/>
        </p:spPr>
        <p:txBody>
          <a:bodyPr wrap="square">
            <a:spAutoFit/>
          </a:bodyPr>
          <a:lstStyle/>
          <a:p>
            <a:pPr algn="l"/>
            <a:r>
              <a:rPr sz="1300" b="1">
                <a:solidFill>
                  <a:srgbClr val="4FC3F7"/>
                </a:solidFill>
              </a:rPr>
              <a:t>Data Layer</a:t>
            </a:r>
          </a:p>
        </p:txBody>
      </p:sp>
      <p:sp>
        <p:nvSpPr>
          <p:cNvPr id="7" name="TextBox 6"/>
          <p:cNvSpPr txBox="1"/>
          <p:nvPr/>
        </p:nvSpPr>
        <p:spPr>
          <a:xfrm>
            <a:off x="640080" y="1737360"/>
            <a:ext cx="3200400" cy="548640"/>
          </a:xfrm>
          <a:prstGeom prst="rect">
            <a:avLst/>
          </a:prstGeom>
          <a:noFill/>
        </p:spPr>
        <p:txBody>
          <a:bodyPr wrap="square">
            <a:spAutoFit/>
          </a:bodyPr>
          <a:lstStyle/>
          <a:p>
            <a:pPr algn="l"/>
            <a:r>
              <a:rPr sz="1100" b="0">
                <a:solidFill>
                  <a:srgbClr val="FFFFFF"/>
                </a:solidFill>
              </a:rPr>
              <a:t>→  pandas — load, transform, validate</a:t>
            </a:r>
          </a:p>
        </p:txBody>
      </p:sp>
      <p:sp>
        <p:nvSpPr>
          <p:cNvPr id="8" name="TextBox 7"/>
          <p:cNvSpPr txBox="1"/>
          <p:nvPr/>
        </p:nvSpPr>
        <p:spPr>
          <a:xfrm>
            <a:off x="640080" y="2331720"/>
            <a:ext cx="3200400" cy="548640"/>
          </a:xfrm>
          <a:prstGeom prst="rect">
            <a:avLst/>
          </a:prstGeom>
          <a:noFill/>
        </p:spPr>
        <p:txBody>
          <a:bodyPr wrap="square">
            <a:spAutoFit/>
          </a:bodyPr>
          <a:lstStyle/>
          <a:p>
            <a:pPr algn="l"/>
            <a:r>
              <a:rPr sz="1100" b="0">
                <a:solidFill>
                  <a:srgbClr val="FFFFFF"/>
                </a:solidFill>
              </a:rPr>
              <a:t>→  numpy — random walk simulation</a:t>
            </a:r>
          </a:p>
        </p:txBody>
      </p:sp>
      <p:sp>
        <p:nvSpPr>
          <p:cNvPr id="9" name="TextBox 8"/>
          <p:cNvSpPr txBox="1"/>
          <p:nvPr/>
        </p:nvSpPr>
        <p:spPr>
          <a:xfrm>
            <a:off x="640080" y="2926080"/>
            <a:ext cx="3200400" cy="548640"/>
          </a:xfrm>
          <a:prstGeom prst="rect">
            <a:avLst/>
          </a:prstGeom>
          <a:noFill/>
        </p:spPr>
        <p:txBody>
          <a:bodyPr wrap="square">
            <a:spAutoFit/>
          </a:bodyPr>
          <a:lstStyle/>
          <a:p>
            <a:pPr algn="l"/>
            <a:r>
              <a:rPr sz="1100" b="0">
                <a:solidFill>
                  <a:srgbClr val="FFFFFF"/>
                </a:solidFill>
              </a:rPr>
              <a:t>→  sqlalchemy — DB integration</a:t>
            </a:r>
          </a:p>
        </p:txBody>
      </p:sp>
      <p:sp>
        <p:nvSpPr>
          <p:cNvPr id="10" name="TextBox 9"/>
          <p:cNvSpPr txBox="1"/>
          <p:nvPr/>
        </p:nvSpPr>
        <p:spPr>
          <a:xfrm>
            <a:off x="640080" y="3520440"/>
            <a:ext cx="3200400" cy="548640"/>
          </a:xfrm>
          <a:prstGeom prst="rect">
            <a:avLst/>
          </a:prstGeom>
          <a:noFill/>
        </p:spPr>
        <p:txBody>
          <a:bodyPr wrap="square">
            <a:spAutoFit/>
          </a:bodyPr>
          <a:lstStyle/>
          <a:p>
            <a:pPr algn="l"/>
            <a:r>
              <a:rPr sz="1100" b="0">
                <a:solidFill>
                  <a:srgbClr val="FFFFFF"/>
                </a:solidFill>
              </a:rPr>
              <a:t>→  CSV — raw storage format</a:t>
            </a:r>
          </a:p>
        </p:txBody>
      </p:sp>
      <p:sp>
        <p:nvSpPr>
          <p:cNvPr id="11" name="Rectangle 10"/>
          <p:cNvSpPr/>
          <p:nvPr/>
        </p:nvSpPr>
        <p:spPr>
          <a:xfrm>
            <a:off x="4297680" y="1097280"/>
            <a:ext cx="3566160" cy="36576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188720"/>
            <a:ext cx="3200400" cy="365760"/>
          </a:xfrm>
          <a:prstGeom prst="rect">
            <a:avLst/>
          </a:prstGeom>
          <a:noFill/>
        </p:spPr>
        <p:txBody>
          <a:bodyPr wrap="square">
            <a:spAutoFit/>
          </a:bodyPr>
          <a:lstStyle/>
          <a:p>
            <a:pPr algn="l"/>
            <a:r>
              <a:rPr sz="1300" b="1">
                <a:solidFill>
                  <a:srgbClr val="4FC3F7"/>
                </a:solidFill>
              </a:rPr>
              <a:t>API &amp; Fetch</a:t>
            </a:r>
          </a:p>
        </p:txBody>
      </p:sp>
      <p:sp>
        <p:nvSpPr>
          <p:cNvPr id="13" name="TextBox 12"/>
          <p:cNvSpPr txBox="1"/>
          <p:nvPr/>
        </p:nvSpPr>
        <p:spPr>
          <a:xfrm>
            <a:off x="4480560" y="1737360"/>
            <a:ext cx="3200400" cy="548640"/>
          </a:xfrm>
          <a:prstGeom prst="rect">
            <a:avLst/>
          </a:prstGeom>
          <a:noFill/>
        </p:spPr>
        <p:txBody>
          <a:bodyPr wrap="square">
            <a:spAutoFit/>
          </a:bodyPr>
          <a:lstStyle/>
          <a:p>
            <a:pPr algn="l"/>
            <a:r>
              <a:rPr sz="1100" b="0">
                <a:solidFill>
                  <a:srgbClr val="FFFFFF"/>
                </a:solidFill>
              </a:rPr>
              <a:t>→  requests — HTTP client</a:t>
            </a:r>
          </a:p>
        </p:txBody>
      </p:sp>
      <p:sp>
        <p:nvSpPr>
          <p:cNvPr id="14" name="TextBox 13"/>
          <p:cNvSpPr txBox="1"/>
          <p:nvPr/>
        </p:nvSpPr>
        <p:spPr>
          <a:xfrm>
            <a:off x="4480560" y="2331720"/>
            <a:ext cx="3200400" cy="548640"/>
          </a:xfrm>
          <a:prstGeom prst="rect">
            <a:avLst/>
          </a:prstGeom>
          <a:noFill/>
        </p:spPr>
        <p:txBody>
          <a:bodyPr wrap="square">
            <a:spAutoFit/>
          </a:bodyPr>
          <a:lstStyle/>
          <a:p>
            <a:pPr algn="l"/>
            <a:r>
              <a:rPr sz="1100" b="0">
                <a:solidFill>
                  <a:srgbClr val="FFFFFF"/>
                </a:solidFill>
              </a:rPr>
              <a:t>→  mfapi.in — free NAV API</a:t>
            </a:r>
          </a:p>
        </p:txBody>
      </p:sp>
      <p:sp>
        <p:nvSpPr>
          <p:cNvPr id="15" name="TextBox 14"/>
          <p:cNvSpPr txBox="1"/>
          <p:nvPr/>
        </p:nvSpPr>
        <p:spPr>
          <a:xfrm>
            <a:off x="4480560" y="2926080"/>
            <a:ext cx="3200400" cy="548640"/>
          </a:xfrm>
          <a:prstGeom prst="rect">
            <a:avLst/>
          </a:prstGeom>
          <a:noFill/>
        </p:spPr>
        <p:txBody>
          <a:bodyPr wrap="square">
            <a:spAutoFit/>
          </a:bodyPr>
          <a:lstStyle/>
          <a:p>
            <a:pPr algn="l"/>
            <a:r>
              <a:rPr sz="1100" b="0">
                <a:solidFill>
                  <a:srgbClr val="FFFFFF"/>
                </a:solidFill>
              </a:rPr>
              <a:t>→  JSON → DataFrame pipeline</a:t>
            </a:r>
          </a:p>
        </p:txBody>
      </p:sp>
      <p:sp>
        <p:nvSpPr>
          <p:cNvPr id="16" name="TextBox 15"/>
          <p:cNvSpPr txBox="1"/>
          <p:nvPr/>
        </p:nvSpPr>
        <p:spPr>
          <a:xfrm>
            <a:off x="4480560" y="3520440"/>
            <a:ext cx="3200400" cy="548640"/>
          </a:xfrm>
          <a:prstGeom prst="rect">
            <a:avLst/>
          </a:prstGeom>
          <a:noFill/>
        </p:spPr>
        <p:txBody>
          <a:bodyPr wrap="square">
            <a:spAutoFit/>
          </a:bodyPr>
          <a:lstStyle/>
          <a:p>
            <a:pPr algn="l"/>
            <a:r>
              <a:rPr sz="1100" b="0">
                <a:solidFill>
                  <a:srgbClr val="FFFFFF"/>
                </a:solidFill>
              </a:rPr>
              <a:t>→  UTF-8 encoded CSV output</a:t>
            </a:r>
          </a:p>
        </p:txBody>
      </p:sp>
      <p:sp>
        <p:nvSpPr>
          <p:cNvPr id="17" name="Rectangle 16"/>
          <p:cNvSpPr/>
          <p:nvPr/>
        </p:nvSpPr>
        <p:spPr>
          <a:xfrm>
            <a:off x="8138160" y="1097280"/>
            <a:ext cx="3566160" cy="36576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188720"/>
            <a:ext cx="3200400" cy="365760"/>
          </a:xfrm>
          <a:prstGeom prst="rect">
            <a:avLst/>
          </a:prstGeom>
          <a:noFill/>
        </p:spPr>
        <p:txBody>
          <a:bodyPr wrap="square">
            <a:spAutoFit/>
          </a:bodyPr>
          <a:lstStyle/>
          <a:p>
            <a:pPr algn="l"/>
            <a:r>
              <a:rPr sz="1300" b="1">
                <a:solidFill>
                  <a:srgbClr val="4FC3F7"/>
                </a:solidFill>
              </a:rPr>
              <a:t>Analysis &amp; Viz</a:t>
            </a:r>
          </a:p>
        </p:txBody>
      </p:sp>
      <p:sp>
        <p:nvSpPr>
          <p:cNvPr id="19" name="TextBox 18"/>
          <p:cNvSpPr txBox="1"/>
          <p:nvPr/>
        </p:nvSpPr>
        <p:spPr>
          <a:xfrm>
            <a:off x="8321040" y="1737360"/>
            <a:ext cx="3200400" cy="548640"/>
          </a:xfrm>
          <a:prstGeom prst="rect">
            <a:avLst/>
          </a:prstGeom>
          <a:noFill/>
        </p:spPr>
        <p:txBody>
          <a:bodyPr wrap="square">
            <a:spAutoFit/>
          </a:bodyPr>
          <a:lstStyle/>
          <a:p>
            <a:pPr algn="l"/>
            <a:r>
              <a:rPr sz="1100" b="0">
                <a:solidFill>
                  <a:srgbClr val="FFFFFF"/>
                </a:solidFill>
              </a:rPr>
              <a:t>→  matplotlib / seaborn — static plots</a:t>
            </a:r>
          </a:p>
        </p:txBody>
      </p:sp>
      <p:sp>
        <p:nvSpPr>
          <p:cNvPr id="20" name="TextBox 19"/>
          <p:cNvSpPr txBox="1"/>
          <p:nvPr/>
        </p:nvSpPr>
        <p:spPr>
          <a:xfrm>
            <a:off x="8321040" y="2331720"/>
            <a:ext cx="3200400" cy="548640"/>
          </a:xfrm>
          <a:prstGeom prst="rect">
            <a:avLst/>
          </a:prstGeom>
          <a:noFill/>
        </p:spPr>
        <p:txBody>
          <a:bodyPr wrap="square">
            <a:spAutoFit/>
          </a:bodyPr>
          <a:lstStyle/>
          <a:p>
            <a:pPr algn="l"/>
            <a:r>
              <a:rPr sz="1100" b="0">
                <a:solidFill>
                  <a:srgbClr val="FFFFFF"/>
                </a:solidFill>
              </a:rPr>
              <a:t>→  plotly — interactive charts</a:t>
            </a:r>
          </a:p>
        </p:txBody>
      </p:sp>
      <p:sp>
        <p:nvSpPr>
          <p:cNvPr id="21" name="TextBox 20"/>
          <p:cNvSpPr txBox="1"/>
          <p:nvPr/>
        </p:nvSpPr>
        <p:spPr>
          <a:xfrm>
            <a:off x="8321040" y="2926080"/>
            <a:ext cx="3200400" cy="548640"/>
          </a:xfrm>
          <a:prstGeom prst="rect">
            <a:avLst/>
          </a:prstGeom>
          <a:noFill/>
        </p:spPr>
        <p:txBody>
          <a:bodyPr wrap="square">
            <a:spAutoFit/>
          </a:bodyPr>
          <a:lstStyle/>
          <a:p>
            <a:pPr algn="l"/>
            <a:r>
              <a:rPr sz="1100" b="0">
                <a:solidFill>
                  <a:srgbClr val="FFFFFF"/>
                </a:solidFill>
              </a:rPr>
              <a:t>→  scipy — statistical analysis</a:t>
            </a:r>
          </a:p>
        </p:txBody>
      </p:sp>
      <p:sp>
        <p:nvSpPr>
          <p:cNvPr id="22" name="TextBox 21"/>
          <p:cNvSpPr txBox="1"/>
          <p:nvPr/>
        </p:nvSpPr>
        <p:spPr>
          <a:xfrm>
            <a:off x="8321040" y="3520440"/>
            <a:ext cx="3200400" cy="548640"/>
          </a:xfrm>
          <a:prstGeom prst="rect">
            <a:avLst/>
          </a:prstGeom>
          <a:noFill/>
        </p:spPr>
        <p:txBody>
          <a:bodyPr wrap="square">
            <a:spAutoFit/>
          </a:bodyPr>
          <a:lstStyle/>
          <a:p>
            <a:pPr algn="l"/>
            <a:r>
              <a:rPr sz="1100" b="0">
                <a:solidFill>
                  <a:srgbClr val="FFFFFF"/>
                </a:solidFill>
              </a:rPr>
              <a:t>→  jupyter — EDA notebooks</a:t>
            </a:r>
          </a:p>
        </p:txBody>
      </p:sp>
      <p:sp>
        <p:nvSpPr>
          <p:cNvPr id="23" name="Rectangle 22"/>
          <p:cNvSpPr/>
          <p:nvPr/>
        </p:nvSpPr>
        <p:spPr>
          <a:xfrm>
            <a:off x="457200" y="5029200"/>
            <a:ext cx="11247120" cy="137160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120640"/>
            <a:ext cx="10881360" cy="365760"/>
          </a:xfrm>
          <a:prstGeom prst="rect">
            <a:avLst/>
          </a:prstGeom>
          <a:noFill/>
        </p:spPr>
        <p:txBody>
          <a:bodyPr wrap="square">
            <a:spAutoFit/>
          </a:bodyPr>
          <a:lstStyle/>
          <a:p>
            <a:pPr algn="l"/>
            <a:r>
              <a:rPr sz="1300" b="1">
                <a:solidFill>
                  <a:srgbClr val="4FC3F7"/>
                </a:solidFill>
              </a:rPr>
              <a:t>Version Control &amp; Deployment</a:t>
            </a:r>
          </a:p>
        </p:txBody>
      </p:sp>
      <p:sp>
        <p:nvSpPr>
          <p:cNvPr id="25" name="TextBox 24"/>
          <p:cNvSpPr txBox="1"/>
          <p:nvPr/>
        </p:nvSpPr>
        <p:spPr>
          <a:xfrm>
            <a:off x="640080" y="5577840"/>
            <a:ext cx="10881360" cy="548640"/>
          </a:xfrm>
          <a:prstGeom prst="rect">
            <a:avLst/>
          </a:prstGeom>
          <a:noFill/>
        </p:spPr>
        <p:txBody>
          <a:bodyPr wrap="square">
            <a:spAutoFit/>
          </a:bodyPr>
          <a:lstStyle/>
          <a:p>
            <a:pPr algn="l"/>
            <a:r>
              <a:rPr sz="1100" b="0">
                <a:solidFill>
                  <a:srgbClr val="FFFFFF"/>
                </a:solidFill>
              </a:rPr>
              <a:t>Git  ·  GitHub (github.com/JASWANTH1726/mf-analysis)  ·  Single commit per day  ·  Raw data committed alongside code for reproducibility</a:t>
            </a:r>
          </a:p>
        </p:txBody>
      </p:sp>
      <p:sp>
        <p:nvSpPr>
          <p:cNvPr id="26" name="TextBox 25"/>
          <p:cNvSpPr txBox="1"/>
          <p:nvPr/>
        </p:nvSpPr>
        <p:spPr>
          <a:xfrm>
            <a:off x="11247120" y="6492240"/>
            <a:ext cx="731520" cy="274320"/>
          </a:xfrm>
          <a:prstGeom prst="rect">
            <a:avLst/>
          </a:prstGeom>
          <a:noFill/>
        </p:spPr>
        <p:txBody>
          <a:bodyPr wrap="square">
            <a:spAutoFit/>
          </a:bodyPr>
          <a:lstStyle/>
          <a:p>
            <a:pPr algn="r"/>
            <a:r>
              <a:rPr sz="1000" b="0">
                <a:solidFill>
                  <a:srgbClr val="90A4AE"/>
                </a:solidFill>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9144000" cy="548640"/>
          </a:xfrm>
          <a:prstGeom prst="rect">
            <a:avLst/>
          </a:prstGeom>
          <a:noFill/>
        </p:spPr>
        <p:txBody>
          <a:bodyPr wrap="square">
            <a:spAutoFit/>
          </a:bodyPr>
          <a:lstStyle/>
          <a:p>
            <a:pPr algn="l"/>
            <a:r>
              <a:rPr sz="2800" b="1">
                <a:solidFill>
                  <a:srgbClr val="4FC3F7"/>
                </a:solidFill>
              </a:rPr>
              <a:t>Project Structure &amp; Deliverables</a:t>
            </a:r>
          </a:p>
        </p:txBody>
      </p:sp>
      <p:sp>
        <p:nvSpPr>
          <p:cNvPr id="5" name="Rectangle 4"/>
          <p:cNvSpPr/>
          <p:nvPr/>
        </p:nvSpPr>
        <p:spPr>
          <a:xfrm>
            <a:off x="457200" y="1005840"/>
            <a:ext cx="5029200" cy="530352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4663440" cy="365760"/>
          </a:xfrm>
          <a:prstGeom prst="rect">
            <a:avLst/>
          </a:prstGeom>
          <a:noFill/>
        </p:spPr>
        <p:txBody>
          <a:bodyPr wrap="square">
            <a:spAutoFit/>
          </a:bodyPr>
          <a:lstStyle/>
          <a:p>
            <a:pPr algn="l"/>
            <a:r>
              <a:rPr sz="1300" b="1">
                <a:solidFill>
                  <a:srgbClr val="4FC3F7"/>
                </a:solidFill>
              </a:rPr>
              <a:t>Folder Structure</a:t>
            </a:r>
          </a:p>
        </p:txBody>
      </p:sp>
      <p:sp>
        <p:nvSpPr>
          <p:cNvPr id="7" name="TextBox 6"/>
          <p:cNvSpPr txBox="1"/>
          <p:nvPr/>
        </p:nvSpPr>
        <p:spPr>
          <a:xfrm>
            <a:off x="640080" y="1600200"/>
            <a:ext cx="4663440" cy="365760"/>
          </a:xfrm>
          <a:prstGeom prst="rect">
            <a:avLst/>
          </a:prstGeom>
          <a:noFill/>
        </p:spPr>
        <p:txBody>
          <a:bodyPr wrap="square">
            <a:spAutoFit/>
          </a:bodyPr>
          <a:lstStyle/>
          <a:p>
            <a:pPr algn="l"/>
            <a:r>
              <a:rPr sz="1100" b="0">
                <a:solidFill>
                  <a:srgbClr val="FFFFFF"/>
                </a:solidFill>
              </a:rPr>
              <a:t>mf_analysis/</a:t>
            </a:r>
          </a:p>
        </p:txBody>
      </p:sp>
      <p:sp>
        <p:nvSpPr>
          <p:cNvPr id="8" name="TextBox 7"/>
          <p:cNvSpPr txBox="1"/>
          <p:nvPr/>
        </p:nvSpPr>
        <p:spPr>
          <a:xfrm>
            <a:off x="640080" y="1984248"/>
            <a:ext cx="4663440" cy="365760"/>
          </a:xfrm>
          <a:prstGeom prst="rect">
            <a:avLst/>
          </a:prstGeom>
          <a:noFill/>
        </p:spPr>
        <p:txBody>
          <a:bodyPr wrap="square">
            <a:spAutoFit/>
          </a:bodyPr>
          <a:lstStyle/>
          <a:p>
            <a:pPr algn="l"/>
            <a:r>
              <a:rPr sz="1100" b="0">
                <a:solidFill>
                  <a:srgbClr val="4FC3F7"/>
                </a:solidFill>
              </a:rPr>
              <a:t>  data/raw/</a:t>
            </a:r>
          </a:p>
        </p:txBody>
      </p:sp>
      <p:sp>
        <p:nvSpPr>
          <p:cNvPr id="9" name="TextBox 8"/>
          <p:cNvSpPr txBox="1"/>
          <p:nvPr/>
        </p:nvSpPr>
        <p:spPr>
          <a:xfrm>
            <a:off x="640080" y="2368296"/>
            <a:ext cx="4663440" cy="365760"/>
          </a:xfrm>
          <a:prstGeom prst="rect">
            <a:avLst/>
          </a:prstGeom>
          <a:noFill/>
        </p:spPr>
        <p:txBody>
          <a:bodyPr wrap="square">
            <a:spAutoFit/>
          </a:bodyPr>
          <a:lstStyle/>
          <a:p>
            <a:pPr algn="l"/>
            <a:r>
              <a:rPr sz="1000" b="0">
                <a:solidFill>
                  <a:srgbClr val="90A4AE"/>
                </a:solidFill>
              </a:rPr>
              <a:t>    16 CSV files</a:t>
            </a:r>
          </a:p>
        </p:txBody>
      </p:sp>
      <p:sp>
        <p:nvSpPr>
          <p:cNvPr id="10" name="TextBox 9"/>
          <p:cNvSpPr txBox="1"/>
          <p:nvPr/>
        </p:nvSpPr>
        <p:spPr>
          <a:xfrm>
            <a:off x="640080" y="2752344"/>
            <a:ext cx="4663440" cy="365760"/>
          </a:xfrm>
          <a:prstGeom prst="rect">
            <a:avLst/>
          </a:prstGeom>
          <a:noFill/>
        </p:spPr>
        <p:txBody>
          <a:bodyPr wrap="square">
            <a:spAutoFit/>
          </a:bodyPr>
          <a:lstStyle/>
          <a:p>
            <a:pPr algn="l"/>
            <a:r>
              <a:rPr sz="1100" b="0">
                <a:solidFill>
                  <a:srgbClr val="4FC3F7"/>
                </a:solidFill>
              </a:rPr>
              <a:t>  data/processed/</a:t>
            </a:r>
          </a:p>
        </p:txBody>
      </p:sp>
      <p:sp>
        <p:nvSpPr>
          <p:cNvPr id="11" name="TextBox 10"/>
          <p:cNvSpPr txBox="1"/>
          <p:nvPr/>
        </p:nvSpPr>
        <p:spPr>
          <a:xfrm>
            <a:off x="640080" y="3136391"/>
            <a:ext cx="4663440" cy="365760"/>
          </a:xfrm>
          <a:prstGeom prst="rect">
            <a:avLst/>
          </a:prstGeom>
          <a:noFill/>
        </p:spPr>
        <p:txBody>
          <a:bodyPr wrap="square">
            <a:spAutoFit/>
          </a:bodyPr>
          <a:lstStyle/>
          <a:p>
            <a:pPr algn="l"/>
            <a:r>
              <a:rPr sz="1100" b="0">
                <a:solidFill>
                  <a:srgbClr val="4FC3F7"/>
                </a:solidFill>
              </a:rPr>
              <a:t>  notebooks/</a:t>
            </a:r>
          </a:p>
        </p:txBody>
      </p:sp>
      <p:sp>
        <p:nvSpPr>
          <p:cNvPr id="12" name="TextBox 11"/>
          <p:cNvSpPr txBox="1"/>
          <p:nvPr/>
        </p:nvSpPr>
        <p:spPr>
          <a:xfrm>
            <a:off x="640080" y="3520440"/>
            <a:ext cx="4663440" cy="365760"/>
          </a:xfrm>
          <a:prstGeom prst="rect">
            <a:avLst/>
          </a:prstGeom>
          <a:noFill/>
        </p:spPr>
        <p:txBody>
          <a:bodyPr wrap="square">
            <a:spAutoFit/>
          </a:bodyPr>
          <a:lstStyle/>
          <a:p>
            <a:pPr algn="l"/>
            <a:r>
              <a:rPr sz="1100" b="0">
                <a:solidFill>
                  <a:srgbClr val="4FC3F7"/>
                </a:solidFill>
              </a:rPr>
              <a:t>  sql/</a:t>
            </a:r>
          </a:p>
        </p:txBody>
      </p:sp>
      <p:sp>
        <p:nvSpPr>
          <p:cNvPr id="13" name="TextBox 12"/>
          <p:cNvSpPr txBox="1"/>
          <p:nvPr/>
        </p:nvSpPr>
        <p:spPr>
          <a:xfrm>
            <a:off x="640080" y="3904487"/>
            <a:ext cx="4663440" cy="365760"/>
          </a:xfrm>
          <a:prstGeom prst="rect">
            <a:avLst/>
          </a:prstGeom>
          <a:noFill/>
        </p:spPr>
        <p:txBody>
          <a:bodyPr wrap="square">
            <a:spAutoFit/>
          </a:bodyPr>
          <a:lstStyle/>
          <a:p>
            <a:pPr algn="l"/>
            <a:r>
              <a:rPr sz="1100" b="0">
                <a:solidFill>
                  <a:srgbClr val="4FC3F7"/>
                </a:solidFill>
              </a:rPr>
              <a:t>  dashboard/</a:t>
            </a:r>
          </a:p>
        </p:txBody>
      </p:sp>
      <p:sp>
        <p:nvSpPr>
          <p:cNvPr id="14" name="TextBox 13"/>
          <p:cNvSpPr txBox="1"/>
          <p:nvPr/>
        </p:nvSpPr>
        <p:spPr>
          <a:xfrm>
            <a:off x="640080" y="4288536"/>
            <a:ext cx="4663440" cy="365760"/>
          </a:xfrm>
          <a:prstGeom prst="rect">
            <a:avLst/>
          </a:prstGeom>
          <a:noFill/>
        </p:spPr>
        <p:txBody>
          <a:bodyPr wrap="square">
            <a:spAutoFit/>
          </a:bodyPr>
          <a:lstStyle/>
          <a:p>
            <a:pPr algn="l"/>
            <a:r>
              <a:rPr sz="1100" b="0">
                <a:solidFill>
                  <a:srgbClr val="4FC3F7"/>
                </a:solidFill>
              </a:rPr>
              <a:t>  reports/</a:t>
            </a:r>
          </a:p>
        </p:txBody>
      </p:sp>
      <p:sp>
        <p:nvSpPr>
          <p:cNvPr id="15" name="TextBox 14"/>
          <p:cNvSpPr txBox="1"/>
          <p:nvPr/>
        </p:nvSpPr>
        <p:spPr>
          <a:xfrm>
            <a:off x="640080" y="4672583"/>
            <a:ext cx="4663440" cy="365760"/>
          </a:xfrm>
          <a:prstGeom prst="rect">
            <a:avLst/>
          </a:prstGeom>
          <a:noFill/>
        </p:spPr>
        <p:txBody>
          <a:bodyPr wrap="square">
            <a:spAutoFit/>
          </a:bodyPr>
          <a:lstStyle/>
          <a:p>
            <a:pPr algn="l"/>
            <a:r>
              <a:rPr sz="1100" b="0">
                <a:solidFill>
                  <a:srgbClr val="66BB6A"/>
                </a:solidFill>
              </a:rPr>
              <a:t>  data_ingestion.py</a:t>
            </a:r>
          </a:p>
        </p:txBody>
      </p:sp>
      <p:sp>
        <p:nvSpPr>
          <p:cNvPr id="16" name="TextBox 15"/>
          <p:cNvSpPr txBox="1"/>
          <p:nvPr/>
        </p:nvSpPr>
        <p:spPr>
          <a:xfrm>
            <a:off x="640080" y="5056631"/>
            <a:ext cx="4663440" cy="365760"/>
          </a:xfrm>
          <a:prstGeom prst="rect">
            <a:avLst/>
          </a:prstGeom>
          <a:noFill/>
        </p:spPr>
        <p:txBody>
          <a:bodyPr wrap="square">
            <a:spAutoFit/>
          </a:bodyPr>
          <a:lstStyle/>
          <a:p>
            <a:pPr algn="l"/>
            <a:r>
              <a:rPr sz="1100" b="0">
                <a:solidFill>
                  <a:srgbClr val="66BB6A"/>
                </a:solidFill>
              </a:rPr>
              <a:t>  live_nav_fetch.py</a:t>
            </a:r>
          </a:p>
        </p:txBody>
      </p:sp>
      <p:sp>
        <p:nvSpPr>
          <p:cNvPr id="17" name="TextBox 16"/>
          <p:cNvSpPr txBox="1"/>
          <p:nvPr/>
        </p:nvSpPr>
        <p:spPr>
          <a:xfrm>
            <a:off x="640080" y="5440680"/>
            <a:ext cx="4663440" cy="365760"/>
          </a:xfrm>
          <a:prstGeom prst="rect">
            <a:avLst/>
          </a:prstGeom>
          <a:noFill/>
        </p:spPr>
        <p:txBody>
          <a:bodyPr wrap="square">
            <a:spAutoFit/>
          </a:bodyPr>
          <a:lstStyle/>
          <a:p>
            <a:pPr algn="l"/>
            <a:r>
              <a:rPr sz="1100" b="0">
                <a:solidFill>
                  <a:srgbClr val="66BB6A"/>
                </a:solidFill>
              </a:rPr>
              <a:t>  generate_datasets.py</a:t>
            </a:r>
          </a:p>
        </p:txBody>
      </p:sp>
      <p:sp>
        <p:nvSpPr>
          <p:cNvPr id="18" name="TextBox 17"/>
          <p:cNvSpPr txBox="1"/>
          <p:nvPr/>
        </p:nvSpPr>
        <p:spPr>
          <a:xfrm>
            <a:off x="640080" y="5824728"/>
            <a:ext cx="4663440" cy="365760"/>
          </a:xfrm>
          <a:prstGeom prst="rect">
            <a:avLst/>
          </a:prstGeom>
          <a:noFill/>
        </p:spPr>
        <p:txBody>
          <a:bodyPr wrap="square">
            <a:spAutoFit/>
          </a:bodyPr>
          <a:lstStyle/>
          <a:p>
            <a:pPr algn="l"/>
            <a:r>
              <a:rPr sz="1100" b="0">
                <a:solidFill>
                  <a:srgbClr val="FFA726"/>
                </a:solidFill>
              </a:rPr>
              <a:t>  requirements.txt</a:t>
            </a:r>
          </a:p>
        </p:txBody>
      </p:sp>
      <p:sp>
        <p:nvSpPr>
          <p:cNvPr id="19" name="Rectangle 18"/>
          <p:cNvSpPr/>
          <p:nvPr/>
        </p:nvSpPr>
        <p:spPr>
          <a:xfrm>
            <a:off x="5760720" y="1005840"/>
            <a:ext cx="5943600" cy="246888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0" y="1097280"/>
            <a:ext cx="5577840" cy="365760"/>
          </a:xfrm>
          <a:prstGeom prst="rect">
            <a:avLst/>
          </a:prstGeom>
          <a:noFill/>
        </p:spPr>
        <p:txBody>
          <a:bodyPr wrap="square">
            <a:spAutoFit/>
          </a:bodyPr>
          <a:lstStyle/>
          <a:p>
            <a:pPr algn="l"/>
            <a:r>
              <a:rPr sz="1300" b="1">
                <a:solidFill>
                  <a:srgbClr val="4FC3F7"/>
                </a:solidFill>
              </a:rPr>
              <a:t>Day 1 Deliverables</a:t>
            </a:r>
          </a:p>
        </p:txBody>
      </p:sp>
      <p:sp>
        <p:nvSpPr>
          <p:cNvPr id="21" name="TextBox 20"/>
          <p:cNvSpPr txBox="1"/>
          <p:nvPr/>
        </p:nvSpPr>
        <p:spPr>
          <a:xfrm>
            <a:off x="5943600" y="1600200"/>
            <a:ext cx="5577840" cy="365760"/>
          </a:xfrm>
          <a:prstGeom prst="rect">
            <a:avLst/>
          </a:prstGeom>
          <a:noFill/>
        </p:spPr>
        <p:txBody>
          <a:bodyPr wrap="square">
            <a:spAutoFit/>
          </a:bodyPr>
          <a:lstStyle/>
          <a:p>
            <a:pPr algn="l"/>
            <a:r>
              <a:rPr sz="1100" b="0">
                <a:solidFill>
                  <a:srgbClr val="FFFFFF"/>
                </a:solidFill>
              </a:rPr>
              <a:t>✓  data_ingestion.py</a:t>
            </a:r>
          </a:p>
        </p:txBody>
      </p:sp>
      <p:sp>
        <p:nvSpPr>
          <p:cNvPr id="22" name="TextBox 21"/>
          <p:cNvSpPr txBox="1"/>
          <p:nvPr/>
        </p:nvSpPr>
        <p:spPr>
          <a:xfrm>
            <a:off x="5943600" y="1984248"/>
            <a:ext cx="5577840" cy="365760"/>
          </a:xfrm>
          <a:prstGeom prst="rect">
            <a:avLst/>
          </a:prstGeom>
          <a:noFill/>
        </p:spPr>
        <p:txBody>
          <a:bodyPr wrap="square">
            <a:spAutoFit/>
          </a:bodyPr>
          <a:lstStyle/>
          <a:p>
            <a:pPr algn="l"/>
            <a:r>
              <a:rPr sz="1100" b="0">
                <a:solidFill>
                  <a:srgbClr val="FFFFFF"/>
                </a:solidFill>
              </a:rPr>
              <a:t>✓  live_nav_fetch.py</a:t>
            </a:r>
          </a:p>
        </p:txBody>
      </p:sp>
      <p:sp>
        <p:nvSpPr>
          <p:cNvPr id="23" name="TextBox 22"/>
          <p:cNvSpPr txBox="1"/>
          <p:nvPr/>
        </p:nvSpPr>
        <p:spPr>
          <a:xfrm>
            <a:off x="5943600" y="2368296"/>
            <a:ext cx="5577840" cy="365760"/>
          </a:xfrm>
          <a:prstGeom prst="rect">
            <a:avLst/>
          </a:prstGeom>
          <a:noFill/>
        </p:spPr>
        <p:txBody>
          <a:bodyPr wrap="square">
            <a:spAutoFit/>
          </a:bodyPr>
          <a:lstStyle/>
          <a:p>
            <a:pPr algn="l"/>
            <a:r>
              <a:rPr sz="1100" b="0">
                <a:solidFill>
                  <a:srgbClr val="FFFFFF"/>
                </a:solidFill>
              </a:rPr>
              <a:t>✓  generate_datasets.py</a:t>
            </a:r>
          </a:p>
        </p:txBody>
      </p:sp>
      <p:sp>
        <p:nvSpPr>
          <p:cNvPr id="24" name="TextBox 23"/>
          <p:cNvSpPr txBox="1"/>
          <p:nvPr/>
        </p:nvSpPr>
        <p:spPr>
          <a:xfrm>
            <a:off x="5943600" y="2752344"/>
            <a:ext cx="5577840" cy="365760"/>
          </a:xfrm>
          <a:prstGeom prst="rect">
            <a:avLst/>
          </a:prstGeom>
          <a:noFill/>
        </p:spPr>
        <p:txBody>
          <a:bodyPr wrap="square">
            <a:spAutoFit/>
          </a:bodyPr>
          <a:lstStyle/>
          <a:p>
            <a:pPr algn="l"/>
            <a:r>
              <a:rPr sz="1100" b="0">
                <a:solidFill>
                  <a:srgbClr val="FFFFFF"/>
                </a:solidFill>
              </a:rPr>
              <a:t>✓  requirements.txt</a:t>
            </a:r>
          </a:p>
        </p:txBody>
      </p:sp>
      <p:sp>
        <p:nvSpPr>
          <p:cNvPr id="25" name="TextBox 24"/>
          <p:cNvSpPr txBox="1"/>
          <p:nvPr/>
        </p:nvSpPr>
        <p:spPr>
          <a:xfrm>
            <a:off x="5943600" y="3136391"/>
            <a:ext cx="5577840" cy="365760"/>
          </a:xfrm>
          <a:prstGeom prst="rect">
            <a:avLst/>
          </a:prstGeom>
          <a:noFill/>
        </p:spPr>
        <p:txBody>
          <a:bodyPr wrap="square">
            <a:spAutoFit/>
          </a:bodyPr>
          <a:lstStyle/>
          <a:p>
            <a:pPr algn="l"/>
            <a:r>
              <a:rPr sz="1100" b="0">
                <a:solidFill>
                  <a:srgbClr val="FFFFFF"/>
                </a:solidFill>
              </a:rPr>
              <a:t>✓  16 raw CSVs in data/raw/</a:t>
            </a:r>
          </a:p>
        </p:txBody>
      </p:sp>
      <p:sp>
        <p:nvSpPr>
          <p:cNvPr id="26" name="TextBox 25"/>
          <p:cNvSpPr txBox="1"/>
          <p:nvPr/>
        </p:nvSpPr>
        <p:spPr>
          <a:xfrm>
            <a:off x="5943600" y="3520440"/>
            <a:ext cx="5577840" cy="365760"/>
          </a:xfrm>
          <a:prstGeom prst="rect">
            <a:avLst/>
          </a:prstGeom>
          <a:noFill/>
        </p:spPr>
        <p:txBody>
          <a:bodyPr wrap="square">
            <a:spAutoFit/>
          </a:bodyPr>
          <a:lstStyle/>
          <a:p>
            <a:pPr algn="l"/>
            <a:r>
              <a:rPr sz="1100" b="0">
                <a:solidFill>
                  <a:srgbClr val="FFFFFF"/>
                </a:solidFill>
              </a:rPr>
              <a:t>✓  GitHub repo — Day 1 commit</a:t>
            </a:r>
          </a:p>
        </p:txBody>
      </p:sp>
      <p:sp>
        <p:nvSpPr>
          <p:cNvPr id="27" name="Rectangle 26"/>
          <p:cNvSpPr/>
          <p:nvPr/>
        </p:nvSpPr>
        <p:spPr>
          <a:xfrm>
            <a:off x="5760720" y="3749039"/>
            <a:ext cx="5943600" cy="256032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0" y="3840480"/>
            <a:ext cx="5577840" cy="365760"/>
          </a:xfrm>
          <a:prstGeom prst="rect">
            <a:avLst/>
          </a:prstGeom>
          <a:noFill/>
        </p:spPr>
        <p:txBody>
          <a:bodyPr wrap="square">
            <a:spAutoFit/>
          </a:bodyPr>
          <a:lstStyle/>
          <a:p>
            <a:pPr algn="l"/>
            <a:r>
              <a:rPr sz="1300" b="1">
                <a:solidFill>
                  <a:srgbClr val="4FC3F7"/>
                </a:solidFill>
              </a:rPr>
              <a:t>Upcoming Work</a:t>
            </a:r>
          </a:p>
        </p:txBody>
      </p:sp>
      <p:sp>
        <p:nvSpPr>
          <p:cNvPr id="29" name="TextBox 28"/>
          <p:cNvSpPr txBox="1"/>
          <p:nvPr/>
        </p:nvSpPr>
        <p:spPr>
          <a:xfrm>
            <a:off x="5943600" y="4343400"/>
            <a:ext cx="5577840" cy="365760"/>
          </a:xfrm>
          <a:prstGeom prst="rect">
            <a:avLst/>
          </a:prstGeom>
          <a:noFill/>
        </p:spPr>
        <p:txBody>
          <a:bodyPr wrap="square">
            <a:spAutoFit/>
          </a:bodyPr>
          <a:lstStyle/>
          <a:p>
            <a:pPr algn="l"/>
            <a:r>
              <a:rPr sz="1100" b="0">
                <a:solidFill>
                  <a:srgbClr val="FFFFFF"/>
                </a:solidFill>
              </a:rPr>
              <a:t>→  Returns analysis &amp; rolling metrics</a:t>
            </a:r>
          </a:p>
        </p:txBody>
      </p:sp>
      <p:sp>
        <p:nvSpPr>
          <p:cNvPr id="30" name="TextBox 29"/>
          <p:cNvSpPr txBox="1"/>
          <p:nvPr/>
        </p:nvSpPr>
        <p:spPr>
          <a:xfrm>
            <a:off x="5943600" y="4727448"/>
            <a:ext cx="5577840" cy="365760"/>
          </a:xfrm>
          <a:prstGeom prst="rect">
            <a:avLst/>
          </a:prstGeom>
          <a:noFill/>
        </p:spPr>
        <p:txBody>
          <a:bodyPr wrap="square">
            <a:spAutoFit/>
          </a:bodyPr>
          <a:lstStyle/>
          <a:p>
            <a:pPr algn="l"/>
            <a:r>
              <a:rPr sz="1100" b="0">
                <a:solidFill>
                  <a:srgbClr val="FFFFFF"/>
                </a:solidFill>
              </a:rPr>
              <a:t>→  Risk-adjusted performance comparison</a:t>
            </a:r>
          </a:p>
        </p:txBody>
      </p:sp>
      <p:sp>
        <p:nvSpPr>
          <p:cNvPr id="31" name="TextBox 30"/>
          <p:cNvSpPr txBox="1"/>
          <p:nvPr/>
        </p:nvSpPr>
        <p:spPr>
          <a:xfrm>
            <a:off x="5943600" y="5111496"/>
            <a:ext cx="5577840" cy="365760"/>
          </a:xfrm>
          <a:prstGeom prst="rect">
            <a:avLst/>
          </a:prstGeom>
          <a:noFill/>
        </p:spPr>
        <p:txBody>
          <a:bodyPr wrap="square">
            <a:spAutoFit/>
          </a:bodyPr>
          <a:lstStyle/>
          <a:p>
            <a:pPr algn="l"/>
            <a:r>
              <a:rPr sz="1100" b="0">
                <a:solidFill>
                  <a:srgbClr val="FFFFFF"/>
                </a:solidFill>
              </a:rPr>
              <a:t>→  Portfolio overlap heatmap</a:t>
            </a:r>
          </a:p>
        </p:txBody>
      </p:sp>
      <p:sp>
        <p:nvSpPr>
          <p:cNvPr id="32" name="TextBox 31"/>
          <p:cNvSpPr txBox="1"/>
          <p:nvPr/>
        </p:nvSpPr>
        <p:spPr>
          <a:xfrm>
            <a:off x="5943600" y="5495544"/>
            <a:ext cx="5577840" cy="365760"/>
          </a:xfrm>
          <a:prstGeom prst="rect">
            <a:avLst/>
          </a:prstGeom>
          <a:noFill/>
        </p:spPr>
        <p:txBody>
          <a:bodyPr wrap="square">
            <a:spAutoFit/>
          </a:bodyPr>
          <a:lstStyle/>
          <a:p>
            <a:pPr algn="l"/>
            <a:r>
              <a:rPr sz="1100" b="0">
                <a:solidFill>
                  <a:srgbClr val="FFFFFF"/>
                </a:solidFill>
              </a:rPr>
              <a:t>→  SIP XIRR calculator</a:t>
            </a:r>
          </a:p>
        </p:txBody>
      </p:sp>
      <p:sp>
        <p:nvSpPr>
          <p:cNvPr id="33" name="TextBox 32"/>
          <p:cNvSpPr txBox="1"/>
          <p:nvPr/>
        </p:nvSpPr>
        <p:spPr>
          <a:xfrm>
            <a:off x="5943600" y="5879592"/>
            <a:ext cx="5577840" cy="365760"/>
          </a:xfrm>
          <a:prstGeom prst="rect">
            <a:avLst/>
          </a:prstGeom>
          <a:noFill/>
        </p:spPr>
        <p:txBody>
          <a:bodyPr wrap="square">
            <a:spAutoFit/>
          </a:bodyPr>
          <a:lstStyle/>
          <a:p>
            <a:pPr algn="l"/>
            <a:r>
              <a:rPr sz="1100" b="0">
                <a:solidFill>
                  <a:srgbClr val="FFFFFF"/>
                </a:solidFill>
              </a:rPr>
              <a:t>→  Interactive dashboard</a:t>
            </a:r>
          </a:p>
        </p:txBody>
      </p:sp>
      <p:sp>
        <p:nvSpPr>
          <p:cNvPr id="34" name="TextBox 33"/>
          <p:cNvSpPr txBox="1"/>
          <p:nvPr/>
        </p:nvSpPr>
        <p:spPr>
          <a:xfrm>
            <a:off x="11247120" y="6492240"/>
            <a:ext cx="731520" cy="274320"/>
          </a:xfrm>
          <a:prstGeom prst="rect">
            <a:avLst/>
          </a:prstGeom>
          <a:noFill/>
        </p:spPr>
        <p:txBody>
          <a:bodyPr wrap="square">
            <a:spAutoFit/>
          </a:bodyPr>
          <a:lstStyle/>
          <a:p>
            <a:pPr algn="r"/>
            <a:r>
              <a:rPr sz="1000" b="0">
                <a:solidFill>
                  <a:srgbClr val="90A4AE"/>
                </a:solidFill>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88952"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9144000" cy="548640"/>
          </a:xfrm>
          <a:prstGeom prst="rect">
            <a:avLst/>
          </a:prstGeom>
          <a:noFill/>
        </p:spPr>
        <p:txBody>
          <a:bodyPr wrap="square">
            <a:spAutoFit/>
          </a:bodyPr>
          <a:lstStyle/>
          <a:p>
            <a:pPr algn="l"/>
            <a:r>
              <a:rPr sz="2800" b="1">
                <a:solidFill>
                  <a:srgbClr val="4FC3F7"/>
                </a:solidFill>
              </a:rPr>
              <a:t>Summary</a:t>
            </a:r>
          </a:p>
        </p:txBody>
      </p:sp>
      <p:sp>
        <p:nvSpPr>
          <p:cNvPr id="5" name="Rectangle 4"/>
          <p:cNvSpPr/>
          <p:nvPr/>
        </p:nvSpPr>
        <p:spPr>
          <a:xfrm>
            <a:off x="457200" y="1005840"/>
            <a:ext cx="2560320" cy="146304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2377440" cy="777240"/>
          </a:xfrm>
          <a:prstGeom prst="rect">
            <a:avLst/>
          </a:prstGeom>
          <a:noFill/>
        </p:spPr>
        <p:txBody>
          <a:bodyPr wrap="square">
            <a:spAutoFit/>
          </a:bodyPr>
          <a:lstStyle/>
          <a:p>
            <a:pPr algn="ctr"/>
            <a:r>
              <a:rPr sz="3800" b="1">
                <a:solidFill>
                  <a:srgbClr val="4FC3F7"/>
                </a:solidFill>
              </a:rPr>
              <a:t>20</a:t>
            </a:r>
          </a:p>
        </p:txBody>
      </p:sp>
      <p:sp>
        <p:nvSpPr>
          <p:cNvPr id="7" name="TextBox 6"/>
          <p:cNvSpPr txBox="1"/>
          <p:nvPr/>
        </p:nvSpPr>
        <p:spPr>
          <a:xfrm>
            <a:off x="548640" y="1828800"/>
            <a:ext cx="2377440" cy="411480"/>
          </a:xfrm>
          <a:prstGeom prst="rect">
            <a:avLst/>
          </a:prstGeom>
          <a:noFill/>
        </p:spPr>
        <p:txBody>
          <a:bodyPr wrap="square">
            <a:spAutoFit/>
          </a:bodyPr>
          <a:lstStyle/>
          <a:p>
            <a:pPr algn="ctr"/>
            <a:r>
              <a:rPr sz="1100" b="0">
                <a:solidFill>
                  <a:srgbClr val="90A4AE"/>
                </a:solidFill>
              </a:rPr>
              <a:t>Schemes Tracked</a:t>
            </a:r>
          </a:p>
        </p:txBody>
      </p:sp>
      <p:sp>
        <p:nvSpPr>
          <p:cNvPr id="8" name="Rectangle 7"/>
          <p:cNvSpPr/>
          <p:nvPr/>
        </p:nvSpPr>
        <p:spPr>
          <a:xfrm>
            <a:off x="3291840" y="1005840"/>
            <a:ext cx="2560320" cy="146304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051560"/>
            <a:ext cx="2377440" cy="777240"/>
          </a:xfrm>
          <a:prstGeom prst="rect">
            <a:avLst/>
          </a:prstGeom>
          <a:noFill/>
        </p:spPr>
        <p:txBody>
          <a:bodyPr wrap="square">
            <a:spAutoFit/>
          </a:bodyPr>
          <a:lstStyle/>
          <a:p>
            <a:pPr algn="ctr"/>
            <a:r>
              <a:rPr sz="3800" b="1">
                <a:solidFill>
                  <a:srgbClr val="4FC3F7"/>
                </a:solidFill>
              </a:rPr>
              <a:t>10</a:t>
            </a:r>
          </a:p>
        </p:txBody>
      </p:sp>
      <p:sp>
        <p:nvSpPr>
          <p:cNvPr id="10" name="TextBox 9"/>
          <p:cNvSpPr txBox="1"/>
          <p:nvPr/>
        </p:nvSpPr>
        <p:spPr>
          <a:xfrm>
            <a:off x="3383280" y="1828800"/>
            <a:ext cx="2377440" cy="411480"/>
          </a:xfrm>
          <a:prstGeom prst="rect">
            <a:avLst/>
          </a:prstGeom>
          <a:noFill/>
        </p:spPr>
        <p:txBody>
          <a:bodyPr wrap="square">
            <a:spAutoFit/>
          </a:bodyPr>
          <a:lstStyle/>
          <a:p>
            <a:pPr algn="ctr"/>
            <a:r>
              <a:rPr sz="1100" b="0">
                <a:solidFill>
                  <a:srgbClr val="90A4AE"/>
                </a:solidFill>
              </a:rPr>
              <a:t>Fund Houses</a:t>
            </a:r>
          </a:p>
        </p:txBody>
      </p:sp>
      <p:sp>
        <p:nvSpPr>
          <p:cNvPr id="11" name="Rectangle 10"/>
          <p:cNvSpPr/>
          <p:nvPr/>
        </p:nvSpPr>
        <p:spPr>
          <a:xfrm>
            <a:off x="6126480" y="1005840"/>
            <a:ext cx="2560320" cy="146304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051560"/>
            <a:ext cx="2377440" cy="777240"/>
          </a:xfrm>
          <a:prstGeom prst="rect">
            <a:avLst/>
          </a:prstGeom>
          <a:noFill/>
        </p:spPr>
        <p:txBody>
          <a:bodyPr wrap="square">
            <a:spAutoFit/>
          </a:bodyPr>
          <a:lstStyle/>
          <a:p>
            <a:pPr algn="ctr"/>
            <a:r>
              <a:rPr sz="3800" b="1">
                <a:solidFill>
                  <a:srgbClr val="4FC3F7"/>
                </a:solidFill>
              </a:rPr>
              <a:t>16</a:t>
            </a:r>
          </a:p>
        </p:txBody>
      </p:sp>
      <p:sp>
        <p:nvSpPr>
          <p:cNvPr id="13" name="TextBox 12"/>
          <p:cNvSpPr txBox="1"/>
          <p:nvPr/>
        </p:nvSpPr>
        <p:spPr>
          <a:xfrm>
            <a:off x="6217920" y="1828800"/>
            <a:ext cx="2377440" cy="411480"/>
          </a:xfrm>
          <a:prstGeom prst="rect">
            <a:avLst/>
          </a:prstGeom>
          <a:noFill/>
        </p:spPr>
        <p:txBody>
          <a:bodyPr wrap="square">
            <a:spAutoFit/>
          </a:bodyPr>
          <a:lstStyle/>
          <a:p>
            <a:pPr algn="ctr"/>
            <a:r>
              <a:rPr sz="1100" b="0">
                <a:solidFill>
                  <a:srgbClr val="90A4AE"/>
                </a:solidFill>
              </a:rPr>
              <a:t>CSV Datasets</a:t>
            </a:r>
          </a:p>
        </p:txBody>
      </p:sp>
      <p:sp>
        <p:nvSpPr>
          <p:cNvPr id="14" name="Rectangle 13"/>
          <p:cNvSpPr/>
          <p:nvPr/>
        </p:nvSpPr>
        <p:spPr>
          <a:xfrm>
            <a:off x="8961120" y="1005840"/>
            <a:ext cx="2560320" cy="146304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0" y="1051560"/>
            <a:ext cx="2377440" cy="777240"/>
          </a:xfrm>
          <a:prstGeom prst="rect">
            <a:avLst/>
          </a:prstGeom>
          <a:noFill/>
        </p:spPr>
        <p:txBody>
          <a:bodyPr wrap="square">
            <a:spAutoFit/>
          </a:bodyPr>
          <a:lstStyle/>
          <a:p>
            <a:pPr algn="ctr"/>
            <a:r>
              <a:rPr sz="3800" b="1">
                <a:solidFill>
                  <a:srgbClr val="4FC3F7"/>
                </a:solidFill>
              </a:rPr>
              <a:t>~20K</a:t>
            </a:r>
          </a:p>
        </p:txBody>
      </p:sp>
      <p:sp>
        <p:nvSpPr>
          <p:cNvPr id="16" name="TextBox 15"/>
          <p:cNvSpPr txBox="1"/>
          <p:nvPr/>
        </p:nvSpPr>
        <p:spPr>
          <a:xfrm>
            <a:off x="9052560" y="1828800"/>
            <a:ext cx="2377440" cy="411480"/>
          </a:xfrm>
          <a:prstGeom prst="rect">
            <a:avLst/>
          </a:prstGeom>
          <a:noFill/>
        </p:spPr>
        <p:txBody>
          <a:bodyPr wrap="square">
            <a:spAutoFit/>
          </a:bodyPr>
          <a:lstStyle/>
          <a:p>
            <a:pPr algn="ctr"/>
            <a:r>
              <a:rPr sz="1100" b="0">
                <a:solidFill>
                  <a:srgbClr val="90A4AE"/>
                </a:solidFill>
              </a:rPr>
              <a:t>Rows Ingested</a:t>
            </a:r>
          </a:p>
        </p:txBody>
      </p:sp>
      <p:sp>
        <p:nvSpPr>
          <p:cNvPr id="17" name="Rectangle 16"/>
          <p:cNvSpPr/>
          <p:nvPr/>
        </p:nvSpPr>
        <p:spPr>
          <a:xfrm>
            <a:off x="457200" y="2743200"/>
            <a:ext cx="11247120" cy="2926080"/>
          </a:xfrm>
          <a:prstGeom prst="rect">
            <a:avLst/>
          </a:prstGeom>
          <a:solidFill>
            <a:srgbClr val="1A1F35"/>
          </a:solidFill>
          <a:ln w="6350">
            <a:solidFill>
              <a:srgbClr val="2A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834640"/>
            <a:ext cx="10881360" cy="365760"/>
          </a:xfrm>
          <a:prstGeom prst="rect">
            <a:avLst/>
          </a:prstGeom>
          <a:noFill/>
        </p:spPr>
        <p:txBody>
          <a:bodyPr wrap="square">
            <a:spAutoFit/>
          </a:bodyPr>
          <a:lstStyle/>
          <a:p>
            <a:pPr algn="l"/>
            <a:r>
              <a:rPr sz="1300" b="1">
                <a:solidFill>
                  <a:srgbClr val="4FC3F7"/>
                </a:solidFill>
              </a:rPr>
              <a:t>What was built</a:t>
            </a:r>
          </a:p>
        </p:txBody>
      </p:sp>
      <p:sp>
        <p:nvSpPr>
          <p:cNvPr id="19" name="TextBox 18"/>
          <p:cNvSpPr txBox="1"/>
          <p:nvPr/>
        </p:nvSpPr>
        <p:spPr>
          <a:xfrm>
            <a:off x="640080" y="3337560"/>
            <a:ext cx="10881360" cy="402336"/>
          </a:xfrm>
          <a:prstGeom prst="rect">
            <a:avLst/>
          </a:prstGeom>
          <a:noFill/>
        </p:spPr>
        <p:txBody>
          <a:bodyPr wrap="square">
            <a:spAutoFit/>
          </a:bodyPr>
          <a:lstStyle/>
          <a:p>
            <a:pPr algn="l"/>
            <a:r>
              <a:rPr sz="1100" b="0">
                <a:solidFill>
                  <a:srgbClr val="FFFFFF"/>
                </a:solidFill>
              </a:rPr>
              <a:t>→  Live NAV pipeline for 6 large-cap schemes via mfapi.in — 3,100 to 3,600 records each</a:t>
            </a:r>
          </a:p>
        </p:txBody>
      </p:sp>
      <p:sp>
        <p:nvSpPr>
          <p:cNvPr id="20" name="TextBox 19"/>
          <p:cNvSpPr txBox="1"/>
          <p:nvPr/>
        </p:nvSpPr>
        <p:spPr>
          <a:xfrm>
            <a:off x="640080" y="3776472"/>
            <a:ext cx="10881360" cy="402336"/>
          </a:xfrm>
          <a:prstGeom prst="rect">
            <a:avLst/>
          </a:prstGeom>
          <a:noFill/>
        </p:spPr>
        <p:txBody>
          <a:bodyPr wrap="square">
            <a:spAutoFit/>
          </a:bodyPr>
          <a:lstStyle/>
          <a:p>
            <a:pPr algn="l"/>
            <a:r>
              <a:rPr sz="1100" b="0">
                <a:solidFill>
                  <a:srgbClr val="FFFFFF"/>
                </a:solidFill>
              </a:rPr>
              <a:t>→  10 structured datasets covering fund metadata, NAV history, holdings, SIP, returns, AUM, TER, managers, benchmarks, risk</a:t>
            </a:r>
          </a:p>
        </p:txBody>
      </p:sp>
      <p:sp>
        <p:nvSpPr>
          <p:cNvPr id="21" name="TextBox 20"/>
          <p:cNvSpPr txBox="1"/>
          <p:nvPr/>
        </p:nvSpPr>
        <p:spPr>
          <a:xfrm>
            <a:off x="640080" y="4215383"/>
            <a:ext cx="10881360" cy="402336"/>
          </a:xfrm>
          <a:prstGeom prst="rect">
            <a:avLst/>
          </a:prstGeom>
          <a:noFill/>
        </p:spPr>
        <p:txBody>
          <a:bodyPr wrap="square">
            <a:spAutoFit/>
          </a:bodyPr>
          <a:lstStyle/>
          <a:p>
            <a:pPr algn="l"/>
            <a:r>
              <a:rPr sz="1100" b="0">
                <a:solidFill>
                  <a:srgbClr val="FFFFFF"/>
                </a:solidFill>
              </a:rPr>
              <a:t>→  100% AMFI code coverage validated programmatically — zero nulls, zero duplicates</a:t>
            </a:r>
          </a:p>
        </p:txBody>
      </p:sp>
      <p:sp>
        <p:nvSpPr>
          <p:cNvPr id="22" name="TextBox 21"/>
          <p:cNvSpPr txBox="1"/>
          <p:nvPr/>
        </p:nvSpPr>
        <p:spPr>
          <a:xfrm>
            <a:off x="640080" y="4654296"/>
            <a:ext cx="10881360" cy="402336"/>
          </a:xfrm>
          <a:prstGeom prst="rect">
            <a:avLst/>
          </a:prstGeom>
          <a:noFill/>
        </p:spPr>
        <p:txBody>
          <a:bodyPr wrap="square">
            <a:spAutoFit/>
          </a:bodyPr>
          <a:lstStyle/>
          <a:p>
            <a:pPr algn="l"/>
            <a:r>
              <a:rPr sz="1100" b="0">
                <a:solidFill>
                  <a:srgbClr val="FFFFFF"/>
                </a:solidFill>
              </a:rPr>
              <a:t>→  Clean project structure with separate raw/processed layers, ready for analysis and dashboarding</a:t>
            </a:r>
          </a:p>
        </p:txBody>
      </p:sp>
      <p:sp>
        <p:nvSpPr>
          <p:cNvPr id="23" name="TextBox 22"/>
          <p:cNvSpPr txBox="1"/>
          <p:nvPr/>
        </p:nvSpPr>
        <p:spPr>
          <a:xfrm>
            <a:off x="640080" y="5093208"/>
            <a:ext cx="10881360" cy="402336"/>
          </a:xfrm>
          <a:prstGeom prst="rect">
            <a:avLst/>
          </a:prstGeom>
          <a:noFill/>
        </p:spPr>
        <p:txBody>
          <a:bodyPr wrap="square">
            <a:spAutoFit/>
          </a:bodyPr>
          <a:lstStyle/>
          <a:p>
            <a:pPr algn="l"/>
            <a:r>
              <a:rPr sz="1100" b="0">
                <a:solidFill>
                  <a:srgbClr val="FFFFFF"/>
                </a:solidFill>
              </a:rPr>
              <a:t>→  Full Git history on GitHub — reproducible from a single clone</a:t>
            </a:r>
          </a:p>
        </p:txBody>
      </p:sp>
      <p:sp>
        <p:nvSpPr>
          <p:cNvPr id="24" name="TextBox 23"/>
          <p:cNvSpPr txBox="1"/>
          <p:nvPr/>
        </p:nvSpPr>
        <p:spPr>
          <a:xfrm>
            <a:off x="548640" y="6217920"/>
            <a:ext cx="10972800" cy="365760"/>
          </a:xfrm>
          <a:prstGeom prst="rect">
            <a:avLst/>
          </a:prstGeom>
          <a:noFill/>
        </p:spPr>
        <p:txBody>
          <a:bodyPr wrap="square">
            <a:spAutoFit/>
          </a:bodyPr>
          <a:lstStyle/>
          <a:p>
            <a:pPr algn="l"/>
            <a:r>
              <a:rPr sz="1100" b="0">
                <a:solidFill>
                  <a:srgbClr val="90A4AE"/>
                </a:solidFill>
              </a:rPr>
              <a:t>github.com/JASWANTH1726/mf-analysis</a:t>
            </a:r>
          </a:p>
        </p:txBody>
      </p:sp>
      <p:sp>
        <p:nvSpPr>
          <p:cNvPr id="25" name="TextBox 24"/>
          <p:cNvSpPr txBox="1"/>
          <p:nvPr/>
        </p:nvSpPr>
        <p:spPr>
          <a:xfrm>
            <a:off x="11247120" y="6492240"/>
            <a:ext cx="731520" cy="274320"/>
          </a:xfrm>
          <a:prstGeom prst="rect">
            <a:avLst/>
          </a:prstGeom>
          <a:noFill/>
        </p:spPr>
        <p:txBody>
          <a:bodyPr wrap="square">
            <a:spAutoFit/>
          </a:bodyPr>
          <a:lstStyle/>
          <a:p>
            <a:pPr algn="r"/>
            <a:r>
              <a:rPr sz="1000" b="0">
                <a:solidFill>
                  <a:srgbClr val="90A4AE"/>
                </a:solidFill>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